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CSFLE &amp; Queryable Encryption deep-dive. This session is designed for senior SAs who need to handle complex 'Day 2' architectural discussions with customers. By the end, you'll explain HOW QE works, design multi-cloud architectures, and handle GDPR/HIPAA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business case, then go deep into cryptographic internals—the 'how it works' that sets SAs apart. GDPR patterns are critical for Europe. Comparison is where customers get confused. Finally, competitive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aren't theoretical risk—€4.4B in fines... Art 32 requires encryption... Art 17 requires full deletion—we'll show 'crypto-shredding' for this. HIPAA requires ePHI protection at rest/transit. PCI-DSS needs encryption + 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Selective encryption while maintaining app function. Health: encrypt SSN but leave department searchable. Finance: Range queries on encrypted transaction amounts for fraud detection.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Fundamental choice: CSFLE is mature, simpler. QE enables Range but requires a SEPARATE DEK for EACH encrypted field because of metadata binding. Crucial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CMK in KMS, DEK in Key Vault, Data in BSON. Client retrives encrypted DEK, KMS decrypts using CMK, client encrypts data. Defense in depth—CMK never leaves KMS.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can server do $gt on ciphertext? EMMs. Client generates 'range tokens' encoding relations. Server tests tokens without knowing values. Logs don't even show WHICH field is queried.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QE creates enxcol_ collections. .esc maps fields to DEKs. .ecoc stores search tokens—this grows and needs monthly compaction (online operation). Factor this into storage planning.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queries require multiple tokens per value for math relations. Result is 2-3x overhead. Tuning min/max precisely saves space. Sparsity (1-4) density impacts query precision vs size.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KMS -&gt; CMK -&gt; DEK -&gt; Data. Rotation is fast—only re-encrypt small DEK documents. Actual data remains unchanged. compliance mandatory but operationally low impact.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make deletion hard. crypto-shredding is the answer. 1 user = 1 DEK. Delete DEK = data is garbage. Lab 3 will implement this. Note: cross-user scaling needs special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KMS (IAM), Azure Key Vault (Managed Identity), GCP Cloud KMS, KMIP. Tip: use different providers for Prod vs DR for true resilience.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Automatic is best for new apps and QE. Explicit offers fine-grained control when automatic rules are too rigid for business logic.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min/max are REQUIRED for range—tighter bounds = fewer tokens. sparsity (density) and contention (write concurrency) are tunable knobs for performance vs security.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limits: no regex or text search. No server-side sorting. No aggregations—do these on decrypted data in the app or use separate anonymized stores.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to be honest upfront. If they need heavy sorting or Atlas Search on sensitive data, encryption must be designed carefully around those needs.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is the main cost. Range = 2-3x factor. Latency from transactional internal writes to .esc/.ecoc. Compaction is online, no downtime.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rewrapManyDataKey re-encrypts DEKs with the new Master Master Key. Actual documents are never touched. Complies with annual rotation mandates easily.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artifacts: BSON Subtype 6 docs, KMS CloudTrail logs, rewrapManyDataKey rotation schedules. Proven data protection in 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 is just disk-at-rest. QE is encryption-in-use. Cosmos lacks range queries on encrypted data. MongoDB is the leader in usable zero-trust.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Identifying the 'DBA Admin' threat usually unlocks the budget for client-side encryption. Ask specifically if admins should see sensitive card IDs.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Risk vs Performance. 10% latency vs $4.5M average breach cost. Use automatic encryption to rebut 'Complexity' objections.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Qualify early. If they MUST group by the encrypted field on the server, QE is the wrong fit. Design the schema to encrypt only the PII data.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fixes common local vs atlas pathing errors. Lab 2 goes deep into metadata storage. Lab 3 builds the Erasure workflow.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checklist: 1. QE Range factor 2. Compaction schedule 3. One DEK per field. 4. Crypto-shredding strategy. Move to Lab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11680"/>
            <a:ext cx="8229600" cy="1371600"/>
          </a:xfrm>
          <a:prstGeom prst="rect">
            <a:avLst/>
          </a:prstGeom>
          <a:noFill/>
        </p:spPr>
        <p:txBody>
          <a:bodyPr wrap="square">
            <a:spAutoFit/>
          </a:bodyPr>
          <a:lstStyle/>
          <a:p>
            <a:pPr algn="ctr">
              <a:defRPr sz="4400" b="1">
                <a:solidFill>
                  <a:srgbClr val="00684A"/>
                </a:solidFill>
              </a:defRPr>
            </a:pPr>
            <a:r>
              <a:t>MongoDB Client-Side Field Level Encryption &amp; Queryable Encryption</a:t>
            </a:r>
          </a:p>
        </p:txBody>
      </p:sp>
      <p:sp>
        <p:nvSpPr>
          <p:cNvPr id="3" name="TextBox 2"/>
          <p:cNvSpPr txBox="1"/>
          <p:nvPr/>
        </p:nvSpPr>
        <p:spPr>
          <a:xfrm>
            <a:off x="457200" y="3474720"/>
            <a:ext cx="8229600" cy="914400"/>
          </a:xfrm>
          <a:prstGeom prst="rect">
            <a:avLst/>
          </a:prstGeom>
          <a:noFill/>
        </p:spPr>
        <p:txBody>
          <a:bodyPr wrap="none">
            <a:spAutoFit/>
          </a:bodyPr>
          <a:lstStyle/>
          <a:p>
            <a:pPr algn="ctr">
              <a:defRPr sz="2800">
                <a:solidFill>
                  <a:srgbClr val="21313C"/>
                </a:solidFill>
              </a:defRPr>
            </a:pPr>
            <a:r>
              <a:t>SA Technical Enablement Deep-Dive</a:t>
            </a:r>
          </a:p>
        </p:txBody>
      </p:sp>
      <p:sp>
        <p:nvSpPr>
          <p:cNvPr id="4" name="TextBox 3"/>
          <p:cNvSpPr txBox="1"/>
          <p:nvPr/>
        </p:nvSpPr>
        <p:spPr>
          <a:xfrm>
            <a:off x="457200" y="5943600"/>
            <a:ext cx="8229600" cy="457200"/>
          </a:xfrm>
          <a:prstGeom prst="rect">
            <a:avLst/>
          </a:prstGeom>
          <a:noFill/>
        </p:spPr>
        <p:txBody>
          <a:bodyPr wrap="none">
            <a:spAutoFit/>
          </a:bodyPr>
          <a:lstStyle/>
          <a:p>
            <a:pPr algn="ctr">
              <a:defRPr sz="1400">
                <a:solidFill>
                  <a:srgbClr val="21313C"/>
                </a:solidFill>
              </a:defRPr>
            </a:pPr>
            <a:r>
              <a:t>45-minute presentation + 3 hands-on labs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Agenda</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0-5 min: The 'Why' &amp; Compliance Hook</a:t>
            </a:r>
          </a:p>
          <a:p>
            <a:pPr>
              <a:spcAft>
                <a:spcPts val="1000"/>
              </a:spcAft>
              <a:defRPr sz="2000">
                <a:solidFill>
                  <a:srgbClr val="21313C"/>
                </a:solidFill>
              </a:defRPr>
            </a:pPr>
            <a:r>
              <a:t>5-15 min: Cryptographic Fundamentals &amp; Internals</a:t>
            </a:r>
          </a:p>
          <a:p>
            <a:pPr>
              <a:spcAft>
                <a:spcPts val="1000"/>
              </a:spcAft>
              <a:defRPr sz="2000">
                <a:solidFill>
                  <a:srgbClr val="21313C"/>
                </a:solidFill>
              </a:defRPr>
            </a:pPr>
            <a:r>
              <a:t>15-25 min: GDPR &amp; Multi-Cloud Patterns</a:t>
            </a:r>
          </a:p>
          <a:p>
            <a:pPr>
              <a:spcAft>
                <a:spcPts val="1000"/>
              </a:spcAft>
              <a:defRPr sz="2000">
                <a:solidFill>
                  <a:srgbClr val="21313C"/>
                </a:solidFill>
              </a:defRPr>
            </a:pPr>
            <a:r>
              <a:t>25-35 min: CSFLE vs QE Architecture Differences</a:t>
            </a:r>
          </a:p>
          <a:p>
            <a:pPr>
              <a:spcAft>
                <a:spcPts val="1000"/>
              </a:spcAft>
              <a:defRPr sz="2000">
                <a:solidFill>
                  <a:srgbClr val="21313C"/>
                </a:solidFill>
              </a:defRPr>
            </a:pPr>
            <a:r>
              <a:t>35-45 min: Competitive 'Kill' Tracks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The Cost of Getting It Wrong</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€4.4B+ in GDPR fines issued as of 2024</a:t>
            </a:r>
          </a:p>
          <a:p>
            <a:pPr>
              <a:spcAft>
                <a:spcPts val="1000"/>
              </a:spcAft>
              <a:defRPr sz="2000">
                <a:solidFill>
                  <a:srgbClr val="21313C"/>
                </a:solidFill>
              </a:defRPr>
            </a:pPr>
            <a:r>
              <a:t>$1.3M average HIPAA penalty per violation</a:t>
            </a:r>
          </a:p>
          <a:p>
            <a:pPr>
              <a:spcAft>
                <a:spcPts val="1000"/>
              </a:spcAft>
              <a:defRPr sz="2000">
                <a:solidFill>
                  <a:srgbClr val="21313C"/>
                </a:solidFill>
              </a:defRPr>
            </a:pPr>
            <a:r>
              <a:t>GDPR Art 32: 'Encryption of personal data' required</a:t>
            </a:r>
          </a:p>
          <a:p>
            <a:pPr>
              <a:spcAft>
                <a:spcPts val="1000"/>
              </a:spcAft>
              <a:defRPr sz="2000">
                <a:solidFill>
                  <a:srgbClr val="21313C"/>
                </a:solidFill>
              </a:defRPr>
            </a:pPr>
            <a:r>
              <a:t>GDPR Art 17: 'Right to be Forgotten' requires erasure</a:t>
            </a:r>
          </a:p>
          <a:p>
            <a:pPr>
              <a:spcAft>
                <a:spcPts val="1000"/>
              </a:spcAft>
              <a:defRPr sz="2000">
                <a:solidFill>
                  <a:srgbClr val="21313C"/>
                </a:solidFill>
              </a:defRPr>
            </a:pPr>
            <a:r>
              <a:t>PCI-DSS Req 3: Encrypt PAN, manage crypto keys</a:t>
            </a:r>
          </a:p>
          <a:p>
            <a:pPr>
              <a:spcAft>
                <a:spcPts val="1000"/>
              </a:spcAft>
              <a:defRPr sz="2000">
                <a:solidFill>
                  <a:srgbClr val="21313C"/>
                </a:solidFill>
              </a:defRPr>
            </a:pPr>
            <a:r>
              <a:t>SOX: Audit trail + access controls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Industry Use Cases</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Healthcare: ePHI, Insurance IDs, Prescriptions (HIPAA)</a:t>
            </a:r>
          </a:p>
          <a:p>
            <a:pPr>
              <a:spcAft>
                <a:spcPts val="1000"/>
              </a:spcAft>
              <a:defRPr sz="2000">
                <a:solidFill>
                  <a:srgbClr val="21313C"/>
                </a:solidFill>
              </a:defRPr>
            </a:pPr>
            <a:r>
              <a:t>Financial: Account numbers, SSN, Tax IDs (PCI-DSS, SOX)</a:t>
            </a:r>
          </a:p>
          <a:p>
            <a:pPr>
              <a:spcAft>
                <a:spcPts val="1000"/>
              </a:spcAft>
              <a:defRPr sz="2000">
                <a:solidFill>
                  <a:srgbClr val="21313C"/>
                </a:solidFill>
              </a:defRPr>
            </a:pPr>
            <a:r>
              <a:t>Gaming/Social: Payments, Chat logs, Identity (COPPA, GDPR)</a:t>
            </a:r>
          </a:p>
          <a:p>
            <a:pPr>
              <a:spcAft>
                <a:spcPts val="1000"/>
              </a:spcAft>
              <a:defRPr sz="2000">
                <a:solidFill>
                  <a:srgbClr val="21313C"/>
                </a:solidFill>
              </a:defRPr>
            </a:pPr>
            <a:r>
              <a:t>Differentiator: Selective encryption + functional queryability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CSFLE vs Queryable Encryption</a:t>
            </a:r>
          </a:p>
        </p:txBody>
      </p:sp>
      <p:sp>
        <p:nvSpPr>
          <p:cNvPr id="3" name="TextBox 2"/>
          <p:cNvSpPr txBox="1"/>
          <p:nvPr/>
        </p:nvSpPr>
        <p:spPr>
          <a:xfrm>
            <a:off x="457200" y="1188720"/>
            <a:ext cx="3931920" cy="457200"/>
          </a:xfrm>
          <a:prstGeom prst="rect">
            <a:avLst/>
          </a:prstGeom>
          <a:noFill/>
        </p:spPr>
        <p:txBody>
          <a:bodyPr wrap="none">
            <a:spAutoFit/>
          </a:bodyPr>
          <a:lstStyle/>
          <a:p>
            <a:pPr>
              <a:defRPr sz="2200" b="1">
                <a:solidFill>
                  <a:srgbClr val="00684A"/>
                </a:solidFill>
              </a:defRPr>
            </a:pPr>
            <a:r>
              <a:t>CSFLE (4.2+)</a:t>
            </a:r>
          </a:p>
        </p:txBody>
      </p:sp>
      <p:sp>
        <p:nvSpPr>
          <p:cNvPr id="4" name="TextBox 3"/>
          <p:cNvSpPr txBox="1"/>
          <p:nvPr/>
        </p:nvSpPr>
        <p:spPr>
          <a:xfrm>
            <a:off x="457200" y="1645920"/>
            <a:ext cx="3931920" cy="4114800"/>
          </a:xfrm>
          <a:prstGeom prst="rect">
            <a:avLst/>
          </a:prstGeom>
          <a:noFill/>
        </p:spPr>
        <p:txBody>
          <a:bodyPr wrap="square">
            <a:spAutoFit/>
          </a:bodyPr>
          <a:lstStyle/>
          <a:p>
            <a:pPr>
              <a:spcAft>
                <a:spcPts val="800"/>
              </a:spcAft>
              <a:defRPr sz="1600"/>
            </a:pPr>
            <a:r>
              <a:t>Deterministic/Random modes</a:t>
            </a:r>
          </a:p>
          <a:p>
            <a:pPr>
              <a:spcAft>
                <a:spcPts val="800"/>
              </a:spcAft>
              <a:defRPr sz="1600"/>
            </a:pPr>
            <a:r>
              <a:t>Equality queries only</a:t>
            </a:r>
          </a:p>
          <a:p>
            <a:pPr>
              <a:spcAft>
                <a:spcPts val="800"/>
              </a:spcAft>
              <a:defRPr sz="1600"/>
            </a:pPr>
            <a:r>
              <a:t>Mature/Battle-tested</a:t>
            </a:r>
          </a:p>
          <a:p>
            <a:pPr>
              <a:spcAft>
                <a:spcPts val="800"/>
              </a:spcAft>
              <a:defRPr sz="1600"/>
            </a:pPr>
            <a:r>
              <a:t>Lower overhead</a:t>
            </a:r>
          </a:p>
          <a:p>
            <a:pPr>
              <a:spcAft>
                <a:spcPts val="800"/>
              </a:spcAft>
              <a:defRPr sz="1600"/>
            </a:pPr>
            <a:r>
              <a:t>Share 1 DEK across fields</a:t>
            </a:r>
          </a:p>
        </p:txBody>
      </p:sp>
      <p:sp>
        <p:nvSpPr>
          <p:cNvPr id="5" name="TextBox 4"/>
          <p:cNvSpPr txBox="1"/>
          <p:nvPr/>
        </p:nvSpPr>
        <p:spPr>
          <a:xfrm>
            <a:off x="4754880" y="1188720"/>
            <a:ext cx="3931920" cy="457200"/>
          </a:xfrm>
          <a:prstGeom prst="rect">
            <a:avLst/>
          </a:prstGeom>
          <a:noFill/>
        </p:spPr>
        <p:txBody>
          <a:bodyPr wrap="none">
            <a:spAutoFit/>
          </a:bodyPr>
          <a:lstStyle/>
          <a:p>
            <a:pPr>
              <a:defRPr sz="2200" b="1">
                <a:solidFill>
                  <a:srgbClr val="00684A"/>
                </a:solidFill>
              </a:defRPr>
            </a:pPr>
            <a:r>
              <a:t>QE (7.0+)</a:t>
            </a:r>
          </a:p>
        </p:txBody>
      </p:sp>
      <p:sp>
        <p:nvSpPr>
          <p:cNvPr id="6" name="TextBox 5"/>
          <p:cNvSpPr txBox="1"/>
          <p:nvPr/>
        </p:nvSpPr>
        <p:spPr>
          <a:xfrm>
            <a:off x="4754880" y="1645920"/>
            <a:ext cx="3931920" cy="4114800"/>
          </a:xfrm>
          <a:prstGeom prst="rect">
            <a:avLst/>
          </a:prstGeom>
          <a:noFill/>
        </p:spPr>
        <p:txBody>
          <a:bodyPr wrap="square">
            <a:spAutoFit/>
          </a:bodyPr>
          <a:lstStyle/>
          <a:p>
            <a:pPr>
              <a:spcAft>
                <a:spcPts val="800"/>
              </a:spcAft>
              <a:defRPr sz="1600"/>
            </a:pPr>
            <a:r>
              <a:t>Randomized encryption only</a:t>
            </a:r>
          </a:p>
          <a:p>
            <a:pPr>
              <a:spcAft>
                <a:spcPts val="800"/>
              </a:spcAft>
              <a:defRPr sz="1600"/>
            </a:pPr>
            <a:r>
              <a:t>Equality AND Range queries</a:t>
            </a:r>
          </a:p>
          <a:p>
            <a:pPr>
              <a:spcAft>
                <a:spcPts val="800"/>
              </a:spcAft>
              <a:defRPr sz="1600"/>
            </a:pPr>
            <a:r>
              <a:t>EMM-based crypto breakthrough</a:t>
            </a:r>
          </a:p>
          <a:p>
            <a:pPr>
              <a:spcAft>
                <a:spcPts val="800"/>
              </a:spcAft>
              <a:defRPr sz="1600"/>
            </a:pPr>
            <a:r>
              <a:t>2-3x storage overhead</a:t>
            </a:r>
          </a:p>
          <a:p>
            <a:pPr>
              <a:spcAft>
                <a:spcPts val="800"/>
              </a:spcAft>
              <a:defRPr sz="1600"/>
            </a:pPr>
            <a:r>
              <a:t>REQUIRES separate DEK per field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Envelope Encryption Architecture</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KMS Provider (AWS/Azure/GCP/KMIP) - Holds CMK</a:t>
            </a:r>
          </a:p>
          <a:p>
            <a:pPr>
              <a:spcAft>
                <a:spcPts val="1000"/>
              </a:spcAft>
              <a:defRPr sz="2000">
                <a:solidFill>
                  <a:srgbClr val="21313C"/>
                </a:solidFill>
              </a:defRPr>
            </a:pPr>
            <a:r>
              <a:t>MongoDB Key Vault - Holds Encrypted DEKs</a:t>
            </a:r>
          </a:p>
          <a:p>
            <a:pPr>
              <a:spcAft>
                <a:spcPts val="1000"/>
              </a:spcAft>
              <a:defRPr sz="2000">
                <a:solidFill>
                  <a:srgbClr val="21313C"/>
                </a:solidFill>
              </a:defRPr>
            </a:pPr>
            <a:r>
              <a:t>Application Data - Encrypted by DEK (BSON Subtype 6)</a:t>
            </a:r>
          </a:p>
          <a:p>
            <a:pPr>
              <a:spcAft>
                <a:spcPts val="1000"/>
              </a:spcAft>
              <a:defRPr sz="2000">
                <a:solidFill>
                  <a:srgbClr val="21313C"/>
                </a:solidFill>
              </a:defRPr>
            </a:pPr>
            <a:r>
              <a:t>Flow: Client retrieves DEK -&gt; Decrypt via KMS -&gt; Encrypt Data</a:t>
            </a:r>
          </a:p>
          <a:p>
            <a:pPr>
              <a:spcAft>
                <a:spcPts val="1000"/>
              </a:spcAft>
              <a:defRPr sz="2000">
                <a:solidFill>
                  <a:srgbClr val="21313C"/>
                </a:solidFill>
              </a:defRPr>
            </a:pPr>
            <a:r>
              <a:t>Benefit: CMK rotation is cheap (only re-encrypt DEKs)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QE: Structured Encryption &amp; EMMs</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Encrypted Multi-Maps (EMMs) enable server-side logic</a:t>
            </a:r>
          </a:p>
          <a:p>
            <a:pPr>
              <a:spcAft>
                <a:spcPts val="1000"/>
              </a:spcAft>
              <a:defRPr sz="2000">
                <a:solidFill>
                  <a:srgbClr val="21313C"/>
                </a:solidFill>
              </a:defRPr>
            </a:pPr>
            <a:r>
              <a:t>Client generates 'tokens' encoding order relations</a:t>
            </a:r>
          </a:p>
          <a:p>
            <a:pPr>
              <a:spcAft>
                <a:spcPts val="1000"/>
              </a:spcAft>
              <a:defRPr sz="2000">
                <a:solidFill>
                  <a:srgbClr val="21313C"/>
                </a:solidFill>
              </a:defRPr>
            </a:pPr>
            <a:r>
              <a:t>Server tests tokens ($gt, $lt, $eq) without plaintext</a:t>
            </a:r>
          </a:p>
          <a:p>
            <a:pPr>
              <a:spcAft>
                <a:spcPts val="1000"/>
              </a:spcAft>
              <a:defRPr sz="2000">
                <a:solidFill>
                  <a:srgbClr val="21313C"/>
                </a:solidFill>
              </a:defRPr>
            </a:pPr>
            <a:r>
              <a:t>Private Querying: Access patterns redacted from logs</a:t>
            </a:r>
          </a:p>
          <a:p>
            <a:pPr>
              <a:spcAft>
                <a:spcPts val="1000"/>
              </a:spcAft>
              <a:defRPr sz="2000">
                <a:solidFill>
                  <a:srgbClr val="21313C"/>
                </a:solidFill>
              </a:defRPr>
            </a:pPr>
            <a:r>
              <a:t>Security: Randomized encryption still searchable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QE Metadata Collections</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.esc (System Catalog): Metadata mapping fields to DEKs</a:t>
            </a:r>
          </a:p>
          <a:p>
            <a:pPr>
              <a:spcAft>
                <a:spcPts val="1000"/>
              </a:spcAft>
              <a:defRPr sz="2000">
                <a:solidFill>
                  <a:srgbClr val="21313C"/>
                </a:solidFill>
              </a:defRPr>
            </a:pPr>
            <a:r>
              <a:t>.ecoc (Context Cache): Stores query tokens</a:t>
            </a:r>
          </a:p>
          <a:p>
            <a:pPr>
              <a:spcAft>
                <a:spcPts val="1000"/>
              </a:spcAft>
              <a:defRPr sz="2000">
                <a:solidFill>
                  <a:srgbClr val="21313C"/>
                </a:solidFill>
              </a:defRPr>
            </a:pPr>
            <a:r>
              <a:t>Impact: Sizing must account for these collections</a:t>
            </a:r>
          </a:p>
          <a:p>
            <a:pPr>
              <a:spcAft>
                <a:spcPts val="1000"/>
              </a:spcAft>
              <a:defRPr sz="2000">
                <a:solidFill>
                  <a:srgbClr val="21313C"/>
                </a:solidFill>
              </a:defRPr>
            </a:pPr>
            <a:r>
              <a:t>Operations: Monthly compaction recommended</a:t>
            </a:r>
          </a:p>
          <a:p>
            <a:pPr>
              <a:spcAft>
                <a:spcPts val="1000"/>
              </a:spcAft>
              <a:defRPr sz="2000">
                <a:solidFill>
                  <a:srgbClr val="21313C"/>
                </a:solidFill>
              </a:defRPr>
            </a:pPr>
            <a:r>
              <a:t>Backups: Must include enxcol_ collections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Challenge: Storage Overhead</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Q: What is the overhead for a QE Range field?</a:t>
            </a:r>
          </a:p>
          <a:p>
            <a:pPr>
              <a:spcAft>
                <a:spcPts val="1000"/>
              </a:spcAft>
              <a:defRPr sz="2000">
                <a:solidFill>
                  <a:srgbClr val="21313C"/>
                </a:solidFill>
              </a:defRPr>
            </a:pPr>
            <a:r>
              <a:t>A) 1.2x</a:t>
            </a:r>
          </a:p>
          <a:p>
            <a:pPr>
              <a:spcAft>
                <a:spcPts val="1000"/>
              </a:spcAft>
              <a:defRPr sz="2000">
                <a:solidFill>
                  <a:srgbClr val="21313C"/>
                </a:solidFill>
              </a:defRPr>
            </a:pPr>
            <a:r>
              <a:t>B) 1.5x</a:t>
            </a:r>
          </a:p>
          <a:p>
            <a:pPr>
              <a:spcAft>
                <a:spcPts val="1000"/>
              </a:spcAft>
              <a:defRPr sz="2000">
                <a:solidFill>
                  <a:srgbClr val="21313C"/>
                </a:solidFill>
              </a:defRPr>
            </a:pPr>
            <a:r>
              <a:t>C) 2-3x</a:t>
            </a:r>
          </a:p>
          <a:p>
            <a:pPr>
              <a:spcAft>
                <a:spcPts val="1000"/>
              </a:spcAft>
              <a:defRPr sz="2000">
                <a:solidFill>
                  <a:srgbClr val="21313C"/>
                </a:solidFill>
              </a:defRPr>
            </a:pPr>
            <a:r>
              <a:t>D) 5x+</a:t>
            </a:r>
          </a:p>
          <a:p>
            <a:pPr>
              <a:spcAft>
                <a:spcPts val="1000"/>
              </a:spcAft>
              <a:defRPr sz="2000">
                <a:solidFill>
                  <a:srgbClr val="21313C"/>
                </a:solidFill>
              </a:defRPr>
            </a:pPr>
            <a:r>
              <a:t>Answer: C (2-3x overhead)</a:t>
            </a:r>
          </a:p>
          <a:p>
            <a:pPr>
              <a:spcAft>
                <a:spcPts val="1000"/>
              </a:spcAft>
              <a:defRPr sz="2000">
                <a:solidFill>
                  <a:srgbClr val="21313C"/>
                </a:solidFill>
              </a:defRPr>
            </a:pPr>
            <a:r>
              <a:t>Why? Multiple tokens for range capability per field</a:t>
            </a:r>
          </a:p>
          <a:p>
            <a:pPr>
              <a:spcAft>
                <a:spcPts val="1000"/>
              </a:spcAft>
              <a:defRPr sz="2000">
                <a:solidFill>
                  <a:srgbClr val="21313C"/>
                </a:solidFill>
              </a:defRPr>
            </a:pPr>
            <a:r>
              <a:t>Tuning: sparsity and min/max settings impact size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The Key Protection Stack</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 KMS Provider: Enterprise Management</a:t>
            </a:r>
          </a:p>
          <a:p>
            <a:pPr>
              <a:spcAft>
                <a:spcPts val="1000"/>
              </a:spcAft>
              <a:defRPr sz="2000">
                <a:solidFill>
                  <a:srgbClr val="21313C"/>
                </a:solidFill>
              </a:defRPr>
            </a:pPr>
            <a:r>
              <a:t>🔐 CMK (Master): Protects the DEKs</a:t>
            </a:r>
          </a:p>
          <a:p>
            <a:pPr>
              <a:spcAft>
                <a:spcPts val="1000"/>
              </a:spcAft>
              <a:defRPr sz="2000">
                <a:solidFill>
                  <a:srgbClr val="21313C"/>
                </a:solidFill>
              </a:defRPr>
            </a:pPr>
            <a:r>
              <a:t>🔑 DEKs (Data): Stored encrypted, 1 per field (QE)</a:t>
            </a:r>
          </a:p>
          <a:p>
            <a:pPr>
              <a:spcAft>
                <a:spcPts val="1000"/>
              </a:spcAft>
              <a:defRPr sz="2000">
                <a:solidFill>
                  <a:srgbClr val="21313C"/>
                </a:solidFill>
              </a:defRPr>
            </a:pPr>
            <a:r>
              <a:t>📄 Field Data: BSON Subtype 6</a:t>
            </a:r>
          </a:p>
          <a:p>
            <a:pPr>
              <a:spcAft>
                <a:spcPts val="1000"/>
              </a:spcAft>
              <a:defRPr sz="2000">
                <a:solidFill>
                  <a:srgbClr val="21313C"/>
                </a:solidFill>
              </a:defRPr>
            </a:pPr>
            <a:r>
              <a:t>Zero-Downtime Rotation: rewrapManyDataKey()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GDPR: Crypto-Shredding at Scale</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Problem: backups/logs contain user data after deletion</a:t>
            </a:r>
          </a:p>
          <a:p>
            <a:pPr>
              <a:spcAft>
                <a:spcPts val="1000"/>
              </a:spcAft>
              <a:defRPr sz="2000">
                <a:solidFill>
                  <a:srgbClr val="21313C"/>
                </a:solidFill>
              </a:defRPr>
            </a:pPr>
            <a:r>
              <a:t>Pattern: 'One DEK per User'</a:t>
            </a:r>
          </a:p>
          <a:p>
            <a:pPr>
              <a:spcAft>
                <a:spcPts val="1000"/>
              </a:spcAft>
              <a:defRPr sz="2000">
                <a:solidFill>
                  <a:srgbClr val="21313C"/>
                </a:solidFill>
              </a:defRPr>
            </a:pPr>
            <a:r>
              <a:t>Action: Delete user's DEK from Key Vault</a:t>
            </a:r>
          </a:p>
          <a:p>
            <a:pPr>
              <a:spcAft>
                <a:spcPts val="1000"/>
              </a:spcAft>
              <a:defRPr sz="2000">
                <a:solidFill>
                  <a:srgbClr val="21313C"/>
                </a:solidFill>
              </a:defRPr>
            </a:pPr>
            <a:r>
              <a:t>Result: All user data (including backups) is unrecoverable</a:t>
            </a:r>
          </a:p>
          <a:p>
            <a:pPr>
              <a:spcAft>
                <a:spcPts val="1000"/>
              </a:spcAft>
              <a:defRPr sz="2000">
                <a:solidFill>
                  <a:srgbClr val="21313C"/>
                </a:solidFill>
              </a:defRPr>
            </a:pPr>
            <a:r>
              <a:t>Compliance: Statisfies Art 17 'Right to be Forgotten'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Multi-Cloud KMS Architecture</a:t>
            </a:r>
          </a:p>
        </p:txBody>
      </p:sp>
      <p:sp>
        <p:nvSpPr>
          <p:cNvPr id="3" name="TextBox 2"/>
          <p:cNvSpPr txBox="1"/>
          <p:nvPr/>
        </p:nvSpPr>
        <p:spPr>
          <a:xfrm>
            <a:off x="457200" y="1188720"/>
            <a:ext cx="3931920" cy="457200"/>
          </a:xfrm>
          <a:prstGeom prst="rect">
            <a:avLst/>
          </a:prstGeom>
          <a:noFill/>
        </p:spPr>
        <p:txBody>
          <a:bodyPr wrap="none">
            <a:spAutoFit/>
          </a:bodyPr>
          <a:lstStyle/>
          <a:p>
            <a:pPr>
              <a:defRPr sz="2200" b="1">
                <a:solidFill>
                  <a:srgbClr val="00684A"/>
                </a:solidFill>
              </a:defRPr>
            </a:pPr>
            <a:r>
              <a:t>BYOK (Bring Your Own Key)</a:t>
            </a:r>
          </a:p>
        </p:txBody>
      </p:sp>
      <p:sp>
        <p:nvSpPr>
          <p:cNvPr id="4" name="TextBox 3"/>
          <p:cNvSpPr txBox="1"/>
          <p:nvPr/>
        </p:nvSpPr>
        <p:spPr>
          <a:xfrm>
            <a:off x="457200" y="1645920"/>
            <a:ext cx="3931920" cy="4114800"/>
          </a:xfrm>
          <a:prstGeom prst="rect">
            <a:avLst/>
          </a:prstGeom>
          <a:noFill/>
        </p:spPr>
        <p:txBody>
          <a:bodyPr wrap="square">
            <a:spAutoFit/>
          </a:bodyPr>
          <a:lstStyle/>
          <a:p>
            <a:pPr>
              <a:spcAft>
                <a:spcPts val="800"/>
              </a:spcAft>
              <a:defRPr sz="1600"/>
            </a:pPr>
            <a:r>
              <a:t>Import key material to Cloud KMS</a:t>
            </a:r>
          </a:p>
          <a:p>
            <a:pPr>
              <a:spcAft>
                <a:spcPts val="800"/>
              </a:spcAft>
              <a:defRPr sz="1600"/>
            </a:pPr>
            <a:r>
              <a:t>Full lifecycle control</a:t>
            </a:r>
          </a:p>
          <a:p>
            <a:pPr>
              <a:spcAft>
                <a:spcPts val="800"/>
              </a:spcAft>
              <a:defRPr sz="1600"/>
            </a:pPr>
            <a:r>
              <a:t>Regulation custody compliant</a:t>
            </a:r>
          </a:p>
          <a:p>
            <a:pPr>
              <a:spcAft>
                <a:spcPts val="800"/>
              </a:spcAft>
              <a:defRPr sz="1600"/>
            </a:pPr>
            <a:r>
              <a:t>Higher ops complexity</a:t>
            </a:r>
          </a:p>
        </p:txBody>
      </p:sp>
      <p:sp>
        <p:nvSpPr>
          <p:cNvPr id="5" name="TextBox 4"/>
          <p:cNvSpPr txBox="1"/>
          <p:nvPr/>
        </p:nvSpPr>
        <p:spPr>
          <a:xfrm>
            <a:off x="4754880" y="1188720"/>
            <a:ext cx="3931920" cy="457200"/>
          </a:xfrm>
          <a:prstGeom prst="rect">
            <a:avLst/>
          </a:prstGeom>
          <a:noFill/>
        </p:spPr>
        <p:txBody>
          <a:bodyPr wrap="none">
            <a:spAutoFit/>
          </a:bodyPr>
          <a:lstStyle/>
          <a:p>
            <a:pPr>
              <a:defRPr sz="2200" b="1">
                <a:solidFill>
                  <a:srgbClr val="00684A"/>
                </a:solidFill>
              </a:defRPr>
            </a:pPr>
            <a:r>
              <a:t>Managed Identity</a:t>
            </a:r>
          </a:p>
        </p:txBody>
      </p:sp>
      <p:sp>
        <p:nvSpPr>
          <p:cNvPr id="6" name="TextBox 5"/>
          <p:cNvSpPr txBox="1"/>
          <p:nvPr/>
        </p:nvSpPr>
        <p:spPr>
          <a:xfrm>
            <a:off x="4754880" y="1645920"/>
            <a:ext cx="3931920" cy="4114800"/>
          </a:xfrm>
          <a:prstGeom prst="rect">
            <a:avLst/>
          </a:prstGeom>
          <a:noFill/>
        </p:spPr>
        <p:txBody>
          <a:bodyPr wrap="square">
            <a:spAutoFit/>
          </a:bodyPr>
          <a:lstStyle/>
          <a:p>
            <a:pPr>
              <a:spcAft>
                <a:spcPts val="800"/>
              </a:spcAft>
              <a:defRPr sz="1600"/>
            </a:pPr>
            <a:r>
              <a:t>Cloud provider generates/rotates</a:t>
            </a:r>
          </a:p>
          <a:p>
            <a:pPr>
              <a:spcAft>
                <a:spcPts val="800"/>
              </a:spcAft>
              <a:defRPr sz="1600"/>
            </a:pPr>
            <a:r>
              <a:t>Low overhead / Native integration</a:t>
            </a:r>
          </a:p>
          <a:p>
            <a:pPr>
              <a:spcAft>
                <a:spcPts val="800"/>
              </a:spcAft>
              <a:defRPr sz="1600"/>
            </a:pPr>
            <a:r>
              <a:t>Simpler ops</a:t>
            </a:r>
          </a:p>
          <a:p>
            <a:pPr>
              <a:spcAft>
                <a:spcPts val="800"/>
              </a:spcAft>
              <a:defRPr sz="1600"/>
            </a:pPr>
            <a:r>
              <a:t>Sufficient for most audits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Integration Strategies</a:t>
            </a:r>
          </a:p>
        </p:txBody>
      </p:sp>
      <p:sp>
        <p:nvSpPr>
          <p:cNvPr id="3" name="TextBox 2"/>
          <p:cNvSpPr txBox="1"/>
          <p:nvPr/>
        </p:nvSpPr>
        <p:spPr>
          <a:xfrm>
            <a:off x="457200" y="1188720"/>
            <a:ext cx="3931920" cy="457200"/>
          </a:xfrm>
          <a:prstGeom prst="rect">
            <a:avLst/>
          </a:prstGeom>
          <a:noFill/>
        </p:spPr>
        <p:txBody>
          <a:bodyPr wrap="none">
            <a:spAutoFit/>
          </a:bodyPr>
          <a:lstStyle/>
          <a:p>
            <a:pPr>
              <a:defRPr sz="2200" b="1">
                <a:solidFill>
                  <a:srgbClr val="00684A"/>
                </a:solidFill>
              </a:defRPr>
            </a:pPr>
            <a:r>
              <a:t>🤖 Automatic</a:t>
            </a:r>
          </a:p>
        </p:txBody>
      </p:sp>
      <p:sp>
        <p:nvSpPr>
          <p:cNvPr id="4" name="TextBox 3"/>
          <p:cNvSpPr txBox="1"/>
          <p:nvPr/>
        </p:nvSpPr>
        <p:spPr>
          <a:xfrm>
            <a:off x="457200" y="1645920"/>
            <a:ext cx="3931920" cy="4114800"/>
          </a:xfrm>
          <a:prstGeom prst="rect">
            <a:avLst/>
          </a:prstGeom>
          <a:noFill/>
        </p:spPr>
        <p:txBody>
          <a:bodyPr wrap="square">
            <a:spAutoFit/>
          </a:bodyPr>
          <a:lstStyle/>
          <a:p>
            <a:pPr>
              <a:spcAft>
                <a:spcPts val="800"/>
              </a:spcAft>
              <a:defRPr sz="1600"/>
            </a:pPr>
            <a:r>
              <a:t>Define encryptedFields map</a:t>
            </a:r>
          </a:p>
          <a:p>
            <a:pPr>
              <a:spcAft>
                <a:spcPts val="800"/>
              </a:spcAft>
              <a:defRPr sz="1600"/>
            </a:pPr>
            <a:r>
              <a:t>Driver intercepts &amp; encrypts</a:t>
            </a:r>
          </a:p>
          <a:p>
            <a:pPr>
              <a:spcAft>
                <a:spcPts val="800"/>
              </a:spcAft>
              <a:defRPr sz="1600"/>
            </a:pPr>
            <a:r>
              <a:t>No app code changes</a:t>
            </a:r>
          </a:p>
          <a:p>
            <a:pPr>
              <a:spcAft>
                <a:spcPts val="800"/>
              </a:spcAft>
              <a:defRPr sz="1600"/>
            </a:pPr>
            <a:r>
              <a:t>Required for QE Range</a:t>
            </a:r>
          </a:p>
        </p:txBody>
      </p:sp>
      <p:sp>
        <p:nvSpPr>
          <p:cNvPr id="5" name="TextBox 4"/>
          <p:cNvSpPr txBox="1"/>
          <p:nvPr/>
        </p:nvSpPr>
        <p:spPr>
          <a:xfrm>
            <a:off x="4754880" y="1188720"/>
            <a:ext cx="3931920" cy="457200"/>
          </a:xfrm>
          <a:prstGeom prst="rect">
            <a:avLst/>
          </a:prstGeom>
          <a:noFill/>
        </p:spPr>
        <p:txBody>
          <a:bodyPr wrap="none">
            <a:spAutoFit/>
          </a:bodyPr>
          <a:lstStyle/>
          <a:p>
            <a:pPr>
              <a:defRPr sz="2200" b="1">
                <a:solidFill>
                  <a:srgbClr val="00684A"/>
                </a:solidFill>
              </a:defRPr>
            </a:pPr>
            <a:r>
              <a:t>👩‍💻 Explicit</a:t>
            </a:r>
          </a:p>
        </p:txBody>
      </p:sp>
      <p:sp>
        <p:nvSpPr>
          <p:cNvPr id="6" name="TextBox 5"/>
          <p:cNvSpPr txBox="1"/>
          <p:nvPr/>
        </p:nvSpPr>
        <p:spPr>
          <a:xfrm>
            <a:off x="4754880" y="1645920"/>
            <a:ext cx="3931920" cy="4114800"/>
          </a:xfrm>
          <a:prstGeom prst="rect">
            <a:avLst/>
          </a:prstGeom>
          <a:noFill/>
        </p:spPr>
        <p:txBody>
          <a:bodyPr wrap="square">
            <a:spAutoFit/>
          </a:bodyPr>
          <a:lstStyle/>
          <a:p>
            <a:pPr>
              <a:spcAft>
                <a:spcPts val="800"/>
              </a:spcAft>
              <a:defRPr sz="1600"/>
            </a:pPr>
            <a:r>
              <a:t>Manual encrypt/decrypt calls</a:t>
            </a:r>
          </a:p>
          <a:p>
            <a:pPr>
              <a:spcAft>
                <a:spcPts val="800"/>
              </a:spcAft>
              <a:defRPr sz="1600"/>
            </a:pPr>
            <a:r>
              <a:t>Full control over logic</a:t>
            </a:r>
          </a:p>
          <a:p>
            <a:pPr>
              <a:spcAft>
                <a:spcPts val="800"/>
              </a:spcAft>
              <a:defRPr sz="1600"/>
            </a:pPr>
            <a:r>
              <a:t>Retrofitting legacy apps</a:t>
            </a:r>
          </a:p>
          <a:p>
            <a:pPr>
              <a:spcAft>
                <a:spcPts val="800"/>
              </a:spcAft>
              <a:defRPr sz="1600"/>
            </a:pPr>
            <a:r>
              <a:t>Conditional logic support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QE Configuration Map</a:t>
            </a:r>
          </a:p>
        </p:txBody>
      </p:sp>
      <p:sp>
        <p:nvSpPr>
          <p:cNvPr id="3" name="Rounded Rectangle 2"/>
          <p:cNvSpPr/>
          <p:nvPr/>
        </p:nvSpPr>
        <p:spPr>
          <a:xfrm>
            <a:off x="457200" y="1188720"/>
            <a:ext cx="8229600" cy="4572000"/>
          </a:xfrm>
          <a:prstGeom prst="roundRect">
            <a:avLst/>
          </a:prstGeom>
          <a:solidFill>
            <a:srgbClr val="1E1E1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206240"/>
          </a:xfrm>
          <a:prstGeom prst="rect">
            <a:avLst/>
          </a:prstGeom>
          <a:noFill/>
        </p:spPr>
        <p:txBody>
          <a:bodyPr wrap="square">
            <a:spAutoFit/>
          </a:bodyPr>
          <a:lstStyle/>
          <a:p>
            <a:pPr>
              <a:defRPr sz="1400">
                <a:solidFill>
                  <a:srgbClr val="E6E6E6"/>
                </a:solidFill>
                <a:latin typeface="Consolas"/>
              </a:defRPr>
            </a:pPr>
            <a:r>
              <a:t>const encryptedFields = {</a:t>
            </a:r>
            <a:br/>
            <a:r>
              <a:t>  fields: [</a:t>
            </a:r>
            <a:br/>
            <a:r>
              <a:t>    { path: "ssn", bsonType: "string", queries: { queryType: "equality" } },</a:t>
            </a:r>
            <a:br/>
            <a:r>
              <a:t>    { path: "salary", bsonType: "int",</a:t>
            </a:r>
            <a:br/>
            <a:r>
              <a:t>      queries: { queryType: "range", min: 0, max: 1000000,</a:t>
            </a:r>
            <a:br/>
            <a:r>
              <a:t>                 sparsity: 2, contention: 4 } }</a:t>
            </a:r>
            <a:br/>
            <a:r>
              <a:t>  ]</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Query Support Matrix</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 $eq, $ne, $in - All encrypted modes</a:t>
            </a:r>
          </a:p>
          <a:p>
            <a:pPr>
              <a:spcAft>
                <a:spcPts val="1000"/>
              </a:spcAft>
              <a:defRPr sz="2000">
                <a:solidFill>
                  <a:srgbClr val="21313C"/>
                </a:solidFill>
              </a:defRPr>
            </a:pPr>
            <a:r>
              <a:t>✅ $gt, $lt, $gte, $lte - QE Range only</a:t>
            </a:r>
          </a:p>
          <a:p>
            <a:pPr>
              <a:spcAft>
                <a:spcPts val="1000"/>
              </a:spcAft>
              <a:defRPr sz="2000">
                <a:solidFill>
                  <a:srgbClr val="21313C"/>
                </a:solidFill>
              </a:defRPr>
            </a:pPr>
            <a:r>
              <a:t>❌ $regex, $text search - Unsupported</a:t>
            </a:r>
          </a:p>
          <a:p>
            <a:pPr>
              <a:spcAft>
                <a:spcPts val="1000"/>
              </a:spcAft>
              <a:defRPr sz="2000">
                <a:solidFill>
                  <a:srgbClr val="21313C"/>
                </a:solidFill>
              </a:defRPr>
            </a:pPr>
            <a:r>
              <a:t>❌ Sorting - Unsupported (leaks order)</a:t>
            </a:r>
          </a:p>
          <a:p>
            <a:pPr>
              <a:spcAft>
                <a:spcPts val="1000"/>
              </a:spcAft>
              <a:defRPr sz="2000">
                <a:solidFill>
                  <a:srgbClr val="21313C"/>
                </a:solidFill>
              </a:defRPr>
            </a:pPr>
            <a:r>
              <a:t>❌ Aggregations ($group, $sum) - Unsupported</a:t>
            </a:r>
          </a:p>
          <a:p>
            <a:pPr>
              <a:spcAft>
                <a:spcPts val="1000"/>
              </a:spcAft>
              <a:defRPr sz="2000">
                <a:solidFill>
                  <a:srgbClr val="21313C"/>
                </a:solidFill>
              </a:defRPr>
            </a:pPr>
            <a:r>
              <a:t>Contention Factor: balances throughput vs frequency analysts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Honest Limitations</a:t>
            </a:r>
          </a:p>
        </p:txBody>
      </p:sp>
      <p:sp>
        <p:nvSpPr>
          <p:cNvPr id="3" name="TextBox 2"/>
          <p:cNvSpPr txBox="1"/>
          <p:nvPr/>
        </p:nvSpPr>
        <p:spPr>
          <a:xfrm>
            <a:off x="457200" y="1188720"/>
            <a:ext cx="3931920" cy="457200"/>
          </a:xfrm>
          <a:prstGeom prst="rect">
            <a:avLst/>
          </a:prstGeom>
          <a:noFill/>
        </p:spPr>
        <p:txBody>
          <a:bodyPr wrap="none">
            <a:spAutoFit/>
          </a:bodyPr>
          <a:lstStyle/>
          <a:p>
            <a:pPr>
              <a:defRPr sz="2200" b="1">
                <a:solidFill>
                  <a:srgbClr val="00684A"/>
                </a:solidFill>
              </a:defRPr>
            </a:pPr>
            <a:r>
              <a:t>❌ No-go Zones</a:t>
            </a:r>
          </a:p>
        </p:txBody>
      </p:sp>
      <p:sp>
        <p:nvSpPr>
          <p:cNvPr id="4" name="TextBox 3"/>
          <p:cNvSpPr txBox="1"/>
          <p:nvPr/>
        </p:nvSpPr>
        <p:spPr>
          <a:xfrm>
            <a:off x="457200" y="1645920"/>
            <a:ext cx="3931920" cy="4114800"/>
          </a:xfrm>
          <a:prstGeom prst="rect">
            <a:avLst/>
          </a:prstGeom>
          <a:noFill/>
        </p:spPr>
        <p:txBody>
          <a:bodyPr wrap="square">
            <a:spAutoFit/>
          </a:bodyPr>
          <a:lstStyle/>
          <a:p>
            <a:pPr>
              <a:spcAft>
                <a:spcPts val="800"/>
              </a:spcAft>
              <a:defRPr sz="1600"/>
            </a:pPr>
            <a:r>
              <a:t>Sorting ciphertext</a:t>
            </a:r>
          </a:p>
          <a:p>
            <a:pPr>
              <a:spcAft>
                <a:spcPts val="800"/>
              </a:spcAft>
              <a:defRPr sz="1600"/>
            </a:pPr>
            <a:r>
              <a:t>Regex/Partial matches</a:t>
            </a:r>
          </a:p>
          <a:p>
            <a:pPr>
              <a:spcAft>
                <a:spcPts val="800"/>
              </a:spcAft>
              <a:defRPr sz="1600"/>
            </a:pPr>
            <a:r>
              <a:t>Server-side aggregations</a:t>
            </a:r>
          </a:p>
          <a:p>
            <a:pPr>
              <a:spcAft>
                <a:spcPts val="800"/>
              </a:spcAft>
              <a:defRPr sz="1600"/>
            </a:pPr>
            <a:r>
              <a:t>Atlas Search on encrypted fields</a:t>
            </a:r>
          </a:p>
        </p:txBody>
      </p:sp>
      <p:sp>
        <p:nvSpPr>
          <p:cNvPr id="5" name="TextBox 4"/>
          <p:cNvSpPr txBox="1"/>
          <p:nvPr/>
        </p:nvSpPr>
        <p:spPr>
          <a:xfrm>
            <a:off x="4754880" y="1188720"/>
            <a:ext cx="3931920" cy="457200"/>
          </a:xfrm>
          <a:prstGeom prst="rect">
            <a:avLst/>
          </a:prstGeom>
          <a:noFill/>
        </p:spPr>
        <p:txBody>
          <a:bodyPr wrap="none">
            <a:spAutoFit/>
          </a:bodyPr>
          <a:lstStyle/>
          <a:p>
            <a:pPr>
              <a:defRPr sz="2200" b="1">
                <a:solidFill>
                  <a:srgbClr val="00684A"/>
                </a:solidFill>
              </a:defRPr>
            </a:pPr>
            <a:r>
              <a:t>✅ SA Workarounds</a:t>
            </a:r>
          </a:p>
        </p:txBody>
      </p:sp>
      <p:sp>
        <p:nvSpPr>
          <p:cNvPr id="6" name="TextBox 5"/>
          <p:cNvSpPr txBox="1"/>
          <p:nvPr/>
        </p:nvSpPr>
        <p:spPr>
          <a:xfrm>
            <a:off x="4754880" y="1645920"/>
            <a:ext cx="3931920" cy="4114800"/>
          </a:xfrm>
          <a:prstGeom prst="rect">
            <a:avLst/>
          </a:prstGeom>
          <a:noFill/>
        </p:spPr>
        <p:txBody>
          <a:bodyPr wrap="square">
            <a:spAutoFit/>
          </a:bodyPr>
          <a:lstStyle/>
          <a:p>
            <a:pPr>
              <a:spcAft>
                <a:spcPts val="800"/>
              </a:spcAft>
              <a:defRPr sz="1600"/>
            </a:pPr>
            <a:r>
              <a:t>Client-side sort after decrypt</a:t>
            </a:r>
          </a:p>
          <a:p>
            <a:pPr>
              <a:spcAft>
                <a:spcPts val="800"/>
              </a:spcAft>
              <a:defRPr sz="1600"/>
            </a:pPr>
            <a:r>
              <a:t>Tokenized search fields</a:t>
            </a:r>
          </a:p>
          <a:p>
            <a:pPr>
              <a:spcAft>
                <a:spcPts val="800"/>
              </a:spcAft>
              <a:defRPr sz="1600"/>
            </a:pPr>
            <a:r>
              <a:t>Anonymized aggregation stores</a:t>
            </a:r>
          </a:p>
          <a:p>
            <a:pPr>
              <a:spcAft>
                <a:spcPts val="800"/>
              </a:spcAft>
              <a:defRPr sz="1600"/>
            </a:pPr>
            <a:r>
              <a:t>Separate analytics read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Ops &amp; Performance Impact</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Storage: 2-3x (Range), 1.5x (Equality)</a:t>
            </a:r>
          </a:p>
          <a:p>
            <a:pPr>
              <a:spcAft>
                <a:spcPts val="1000"/>
              </a:spcAft>
              <a:defRPr sz="2000">
                <a:solidFill>
                  <a:srgbClr val="21313C"/>
                </a:solidFill>
              </a:defRPr>
            </a:pPr>
            <a:r>
              <a:t>Write Latency: ~10% insert overhead</a:t>
            </a:r>
          </a:p>
          <a:p>
            <a:pPr>
              <a:spcAft>
                <a:spcPts val="1000"/>
              </a:spcAft>
              <a:defRPr sz="2000">
                <a:solidFill>
                  <a:srgbClr val="21313C"/>
                </a:solidFill>
              </a:defRPr>
            </a:pPr>
            <a:r>
              <a:t>Writes: 1 insert -&gt; multiple internal writes</a:t>
            </a:r>
          </a:p>
          <a:p>
            <a:pPr>
              <a:spcAft>
                <a:spcPts val="1000"/>
              </a:spcAft>
              <a:defRPr sz="2000">
                <a:solidFill>
                  <a:srgbClr val="21313C"/>
                </a:solidFill>
              </a:defRPr>
            </a:pPr>
            <a:r>
              <a:t>Compaction: Mandatory monthly online cleanup</a:t>
            </a:r>
          </a:p>
          <a:p>
            <a:pPr>
              <a:spcAft>
                <a:spcPts val="1000"/>
              </a:spcAft>
              <a:defRPr sz="2000">
                <a:solidFill>
                  <a:srgbClr val="21313C"/>
                </a:solidFill>
              </a:defRPr>
            </a:pPr>
            <a:r>
              <a:t>Maintenance: Include enxcol_ collections in backups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Rotating Keys (Zero-Downtime)</a:t>
            </a:r>
          </a:p>
        </p:txBody>
      </p:sp>
      <p:sp>
        <p:nvSpPr>
          <p:cNvPr id="3" name="Rounded Rectangle 2"/>
          <p:cNvSpPr/>
          <p:nvPr/>
        </p:nvSpPr>
        <p:spPr>
          <a:xfrm>
            <a:off x="457200" y="1188720"/>
            <a:ext cx="8229600" cy="4572000"/>
          </a:xfrm>
          <a:prstGeom prst="roundRect">
            <a:avLst/>
          </a:prstGeom>
          <a:solidFill>
            <a:srgbClr val="1E1E1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206240"/>
          </a:xfrm>
          <a:prstGeom prst="rect">
            <a:avLst/>
          </a:prstGeom>
          <a:noFill/>
        </p:spPr>
        <p:txBody>
          <a:bodyPr wrap="square">
            <a:spAutoFit/>
          </a:bodyPr>
          <a:lstStyle/>
          <a:p>
            <a:pPr>
              <a:defRPr sz="1400">
                <a:solidFill>
                  <a:srgbClr val="E6E6E6"/>
                </a:solidFill>
                <a:latin typeface="Consolas"/>
              </a:defRPr>
            </a:pPr>
            <a:r>
              <a:t>await clientEncryption.rewrapManyDataKey({}, {</a:t>
            </a:r>
            <a:br/>
            <a:r>
              <a:t>  provider: "aws",</a:t>
            </a:r>
            <a:br/>
            <a:r>
              <a:t>  masterKey: { key: "arn:aws:kms...NEW-CMK" }</a:t>
            </a:r>
            <a:b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Regulatory Compliance Mapping</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GDPR Art 32: Field-level encryption</a:t>
            </a:r>
          </a:p>
          <a:p>
            <a:pPr>
              <a:spcAft>
                <a:spcPts val="1000"/>
              </a:spcAft>
              <a:defRPr sz="2000">
                <a:solidFill>
                  <a:srgbClr val="21313C"/>
                </a:solidFill>
              </a:defRPr>
            </a:pPr>
            <a:r>
              <a:t>GDPR Art 17: 1 DEK per user (Erasure)</a:t>
            </a:r>
          </a:p>
          <a:p>
            <a:pPr>
              <a:spcAft>
                <a:spcPts val="1000"/>
              </a:spcAft>
              <a:defRPr sz="2000">
                <a:solidFill>
                  <a:srgbClr val="21313C"/>
                </a:solidFill>
              </a:defRPr>
            </a:pPr>
            <a:r>
              <a:t>HIPAA: ePHI as BSON Subtype 6</a:t>
            </a:r>
          </a:p>
          <a:p>
            <a:pPr>
              <a:spcAft>
                <a:spcPts val="1000"/>
              </a:spcAft>
              <a:defRPr sz="2000">
                <a:solidFill>
                  <a:srgbClr val="21313C"/>
                </a:solidFill>
              </a:defRPr>
            </a:pPr>
            <a:r>
              <a:t>PCI-DSS Req 3: Searchable encrypted PAN</a:t>
            </a:r>
          </a:p>
          <a:p>
            <a:pPr>
              <a:spcAft>
                <a:spcPts val="1000"/>
              </a:spcAft>
              <a:defRPr sz="2000">
                <a:solidFill>
                  <a:srgbClr val="21313C"/>
                </a:solidFill>
              </a:defRPr>
            </a:pPr>
            <a:r>
              <a:t>Audit: KMS access logs for auditors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Competitive Differentiation</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vs Oracle TDE: TDE decrypts in memory (DBAs see data)</a:t>
            </a:r>
          </a:p>
          <a:p>
            <a:pPr>
              <a:spcAft>
                <a:spcPts val="1000"/>
              </a:spcAft>
              <a:defRPr sz="2000">
                <a:solidFill>
                  <a:srgbClr val="21313C"/>
                </a:solidFill>
              </a:defRPr>
            </a:pPr>
            <a:r>
              <a:t>vs Cosmos DB: Cosmos is deterministic-only (leaks patterns)</a:t>
            </a:r>
          </a:p>
          <a:p>
            <a:pPr>
              <a:spcAft>
                <a:spcPts val="1000"/>
              </a:spcAft>
              <a:defRPr sz="2000">
                <a:solidFill>
                  <a:srgbClr val="21313C"/>
                </a:solidFill>
              </a:defRPr>
            </a:pPr>
            <a:r>
              <a:t>vs PostgreSQL: Server-side, no KMS integration</a:t>
            </a:r>
          </a:p>
          <a:p>
            <a:pPr>
              <a:spcAft>
                <a:spcPts val="1000"/>
              </a:spcAft>
              <a:defRPr sz="2000">
                <a:solidFill>
                  <a:srgbClr val="21313C"/>
                </a:solidFill>
              </a:defRPr>
            </a:pPr>
            <a:r>
              <a:t>MongoDB: True zero-trust (server never sees plaintext)</a:t>
            </a:r>
          </a:p>
          <a:p>
            <a:pPr>
              <a:spcAft>
                <a:spcPts val="1000"/>
              </a:spcAft>
              <a:defRPr sz="2000">
                <a:solidFill>
                  <a:srgbClr val="21313C"/>
                </a:solidFill>
              </a:defRPr>
            </a:pPr>
            <a:r>
              <a:t>Differentiator: Random encryption + Range queries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SA Discovery Questions</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Who should NOT see this data? (The killer question)</a:t>
            </a:r>
          </a:p>
          <a:p>
            <a:pPr>
              <a:spcAft>
                <a:spcPts val="1000"/>
              </a:spcAft>
              <a:defRPr sz="2000">
                <a:solidFill>
                  <a:srgbClr val="21313C"/>
                </a:solidFill>
              </a:defRPr>
            </a:pPr>
            <a:r>
              <a:t>Is it acceptable for DBAs to see customer SSNs?</a:t>
            </a:r>
          </a:p>
          <a:p>
            <a:pPr>
              <a:spcAft>
                <a:spcPts val="1000"/>
              </a:spcAft>
              <a:defRPr sz="2000">
                <a:solidFill>
                  <a:srgbClr val="21313C"/>
                </a:solidFill>
              </a:defRPr>
            </a:pPr>
            <a:r>
              <a:t>Do you have 'Right to be Forgotten' requirements?</a:t>
            </a:r>
          </a:p>
          <a:p>
            <a:pPr>
              <a:spcAft>
                <a:spcPts val="1000"/>
              </a:spcAft>
              <a:defRPr sz="2000">
                <a:solidFill>
                  <a:srgbClr val="21313C"/>
                </a:solidFill>
              </a:defRPr>
            </a:pPr>
            <a:r>
              <a:t>What is your key management security model?</a:t>
            </a:r>
          </a:p>
          <a:p>
            <a:pPr>
              <a:spcAft>
                <a:spcPts val="1000"/>
              </a:spcAft>
              <a:defRPr sz="2000">
                <a:solidFill>
                  <a:srgbClr val="21313C"/>
                </a:solidFill>
              </a:defRPr>
            </a:pPr>
            <a:r>
              <a:t>Do you need to search encrypted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Objection Handling</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'We have TDE' -&gt; TDE leaks to DBAs; we don't.</a:t>
            </a:r>
          </a:p>
          <a:p>
            <a:pPr>
              <a:spcAft>
                <a:spcPts val="1000"/>
              </a:spcAft>
              <a:defRPr sz="2000">
                <a:solidFill>
                  <a:srgbClr val="21313C"/>
                </a:solidFill>
              </a:defRPr>
            </a:pPr>
            <a:r>
              <a:t>'It's too slow' -&gt; security/performance trade-off; encrypt less.</a:t>
            </a:r>
          </a:p>
          <a:p>
            <a:pPr>
              <a:spcAft>
                <a:spcPts val="1000"/>
              </a:spcAft>
              <a:defRPr sz="2000">
                <a:solidFill>
                  <a:srgbClr val="21313C"/>
                </a:solidFill>
              </a:defRPr>
            </a:pPr>
            <a:r>
              <a:t>'Can't search' -&gt; QE enables Equality and Range.</a:t>
            </a:r>
          </a:p>
          <a:p>
            <a:pPr>
              <a:spcAft>
                <a:spcPts val="1000"/>
              </a:spcAft>
              <a:defRPr sz="2000">
                <a:solidFill>
                  <a:srgbClr val="21313C"/>
                </a:solidFill>
              </a:defRPr>
            </a:pPr>
            <a:r>
              <a:t>'Too complex' -&gt; Automatic mode needs no app changes.</a:t>
            </a:r>
          </a:p>
          <a:p>
            <a:pPr>
              <a:spcAft>
                <a:spcPts val="1000"/>
              </a:spcAft>
              <a:defRPr sz="2000">
                <a:solidFill>
                  <a:srgbClr val="21313C"/>
                </a:solidFill>
              </a:defRPr>
            </a:pPr>
            <a:r>
              <a:t>'Compliance loves TDE' -&gt; mention 'unauthorized access' clauses.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Encryption Anti-Patterns</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Don't encrypt fields for Sorting</a:t>
            </a:r>
          </a:p>
          <a:p>
            <a:pPr>
              <a:spcAft>
                <a:spcPts val="1000"/>
              </a:spcAft>
              <a:defRPr sz="2000">
                <a:solidFill>
                  <a:srgbClr val="21313C"/>
                </a:solidFill>
              </a:defRPr>
            </a:pPr>
            <a:r>
              <a:t>Don't encrypt fields for Heavy Aggregations</a:t>
            </a:r>
          </a:p>
          <a:p>
            <a:pPr>
              <a:spcAft>
                <a:spcPts val="1000"/>
              </a:spcAft>
              <a:defRPr sz="2000">
                <a:solidFill>
                  <a:srgbClr val="21313C"/>
                </a:solidFill>
              </a:defRPr>
            </a:pPr>
            <a:r>
              <a:t>Don't encrypt EVERYTHING (security overkill/perf hit)</a:t>
            </a:r>
          </a:p>
          <a:p>
            <a:pPr>
              <a:spcAft>
                <a:spcPts val="1000"/>
              </a:spcAft>
              <a:defRPr sz="2000">
                <a:solidFill>
                  <a:srgbClr val="21313C"/>
                </a:solidFill>
              </a:defRPr>
            </a:pPr>
            <a:r>
              <a:t>Don't use Local Key in production</a:t>
            </a:r>
          </a:p>
          <a:p>
            <a:pPr>
              <a:spcAft>
                <a:spcPts val="1000"/>
              </a:spcAft>
              <a:defRPr sz="2000">
                <a:solidFill>
                  <a:srgbClr val="21313C"/>
                </a:solidFill>
              </a:defRPr>
            </a:pPr>
            <a:r>
              <a:t>Don't skip compaction for active users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Hands-on Training (3 x 34 min)</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Lab 1: CSFLE Fundamentals &amp; Troubleshooting</a:t>
            </a:r>
          </a:p>
          <a:p>
            <a:pPr>
              <a:spcAft>
                <a:spcPts val="1000"/>
              </a:spcAft>
              <a:defRPr sz="2000">
                <a:solidFill>
                  <a:srgbClr val="21313C"/>
                </a:solidFill>
              </a:defRPr>
            </a:pPr>
            <a:r>
              <a:t>Lab 2: QE Internals, .esc/.ecoc, and Sizing</a:t>
            </a:r>
          </a:p>
          <a:p>
            <a:pPr>
              <a:spcAft>
                <a:spcPts val="1000"/>
              </a:spcAft>
              <a:defRPr sz="2000">
                <a:solidFill>
                  <a:srgbClr val="21313C"/>
                </a:solidFill>
              </a:defRPr>
            </a:pPr>
            <a:r>
              <a:t>Lab 3: GDPR Compliance &amp; Crypto-Shredding</a:t>
            </a:r>
          </a:p>
          <a:p>
            <a:pPr>
              <a:spcAft>
                <a:spcPts val="1000"/>
              </a:spcAft>
              <a:defRPr sz="2000">
                <a:solidFill>
                  <a:srgbClr val="21313C"/>
                </a:solidFill>
              </a:defRPr>
            </a:pPr>
            <a:r>
              <a:t>Scenario: AWS KMS integration (Enterprise focus)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3200" b="1">
                <a:solidFill>
                  <a:srgbClr val="00684A"/>
                </a:solidFill>
              </a:defRPr>
            </a:pPr>
            <a:r>
              <a:t>Key Takeaways</a:t>
            </a:r>
          </a:p>
        </p:txBody>
      </p:sp>
      <p:sp>
        <p:nvSpPr>
          <p:cNvPr id="3" name="Rectangle 2"/>
          <p:cNvSpPr/>
          <p:nvPr/>
        </p:nvSpPr>
        <p:spPr>
          <a:xfrm>
            <a:off x="457200" y="1005840"/>
            <a:ext cx="1828800" cy="45720"/>
          </a:xfrm>
          <a:prstGeom prst="rect">
            <a:avLst/>
          </a:prstGeom>
          <a:solidFill>
            <a:srgbClr val="006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572000"/>
          </a:xfrm>
          <a:prstGeom prst="rect">
            <a:avLst/>
          </a:prstGeom>
          <a:noFill/>
        </p:spPr>
        <p:txBody>
          <a:bodyPr wrap="square">
            <a:spAutoFit/>
          </a:bodyPr>
          <a:lstStyle/>
          <a:p>
            <a:pPr>
              <a:spcAft>
                <a:spcPts val="1000"/>
              </a:spcAft>
              <a:defRPr sz="2000">
                <a:solidFill>
                  <a:srgbClr val="21313C"/>
                </a:solidFill>
              </a:defRPr>
            </a:pPr>
            <a:r>
              <a:t>QE = Randomized + Range Queries (the big one)</a:t>
            </a:r>
          </a:p>
          <a:p>
            <a:pPr>
              <a:spcAft>
                <a:spcPts val="1000"/>
              </a:spcAft>
              <a:defRPr sz="2000">
                <a:solidFill>
                  <a:srgbClr val="21313C"/>
                </a:solidFill>
              </a:defRPr>
            </a:pPr>
            <a:r>
              <a:t>2-3x storage for Range - Capacity Plan now</a:t>
            </a:r>
          </a:p>
          <a:p>
            <a:pPr>
              <a:spcAft>
                <a:spcPts val="1000"/>
              </a:spcAft>
              <a:defRPr sz="2000">
                <a:solidFill>
                  <a:srgbClr val="21313C"/>
                </a:solidFill>
              </a:defRPr>
            </a:pPr>
            <a:r>
              <a:t>Mandatory DEK per field (QE metadata binding)</a:t>
            </a:r>
          </a:p>
          <a:p>
            <a:pPr>
              <a:spcAft>
                <a:spcPts val="1000"/>
              </a:spcAft>
              <a:defRPr sz="2000">
                <a:solidFill>
                  <a:srgbClr val="21313C"/>
                </a:solidFill>
              </a:defRPr>
            </a:pPr>
            <a:r>
              <a:t>Online Compaction for ongoing performance</a:t>
            </a:r>
          </a:p>
          <a:p>
            <a:pPr>
              <a:spcAft>
                <a:spcPts val="1000"/>
              </a:spcAft>
              <a:defRPr sz="2000">
                <a:solidFill>
                  <a:srgbClr val="21313C"/>
                </a:solidFill>
              </a:defRPr>
            </a:pPr>
            <a:r>
              <a:t>Crypto-shredding satisfies GDPR Art 17</a:t>
            </a:r>
          </a:p>
          <a:p>
            <a:pPr>
              <a:spcAft>
                <a:spcPts val="1000"/>
              </a:spcAft>
              <a:defRPr sz="2000">
                <a:solidFill>
                  <a:srgbClr val="21313C"/>
                </a:solidFill>
              </a:defRPr>
            </a:pPr>
            <a:r>
              <a:t>docs.mongodb.com/qe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