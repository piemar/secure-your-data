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with the business case, then go deep into cryptographic internals. GDPR patterns are critical. Comparison is where customers get confused.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aren't theoretical risks. GDPR Art 32 explicitly requires encryption. Art 17 requires ability to delete all user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Selective encryption of sensitive fields while maintaining app functionality. Health: encrypt SSN but leave department searchable.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CSFLE is mature/simpler. QE enables Range but requires a SEPARATE DEK for EACH encrypted field due to metadata binding.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CMK in KMS, DEK in Key Vault, Data in BSON. Client retrieves encrypted DEK, KMS decrypts using CMK.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EMMs enable server-side range queries. Client generates range tokens. Server tests tokens without knowing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QE creates enxcol_ collections. .ecoc stores search tokens—grows and needs monthly compaction.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queries require multiple tokens per value. Tuning min/max precisely saves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KMS -&gt; CMK -&gt; DEK -&gt; Data. Rotation is fast—only re-encrypt small DEK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Backups make deletion hard. Crypto-shredding is the answer: 1 user = 1 DEK.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KMS, Azure Key Vault, GCP Cloud KMS, KMIP. Use different providers for Prod vs DR for true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Automatic is best for new apps and QE. Explicit offers fine-grained control for edge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min/max are REQUIRED for range—tighter bounds = fewer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limits: no regex or text search. No server-side sorting. Do aggregations on decrypted data in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upfront. Design the schema carefully around these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 is main cost. Latency from multiple internal writes. Compaction is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rewrapManyDataKey re-encrypts DEKs. Actual documents are never 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 artifacts: BSON Subtype 6 docs, KMS CloudTrail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TDE is disk-at-rest. QE is encryption-in-use. MongoDB is a leader in zero-trust.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Insider threat identification unlocks budget. Ask if admins should see sensitive card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Risk vs Performance. Use automatic encryption to rebut 'Complexity' objections.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Qualify early. If they must group by the encrypted field on server, QE is the wrong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 fixes pathing errors. Lab 2 goes deep into metadata. Lab 3 builds Erasure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checklist: Factor in Range factor. Monthly compaction. Move to Lab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84A"/>
                </a:solidFill>
              </a:rPr>
              <a:t>MongoDB Client-Side Field Level Encryption &amp; Queryable Encryption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1313C"/>
                </a:solidFill>
              </a:rPr>
              <a:t>SA Technical Enablement Deep-Dive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71975"/>
            <a:ext cx="8229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313C"/>
                </a:solidFill>
              </a:rPr>
              <a:t>45-minute presentation + 3 hands-on 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0-5 min: The 'Why' &amp; Compliance Hook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5-15 min: Cryptographic Fundamentals &amp; Internals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15-25 min: GDPR &amp; Multi-Cloud Patterns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25-35 min: CSFLE vs QE Architecture Differences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35-45 min: Competitive 'Kill' Tracks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The Cost of Getting It Wrong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€4.4B+ in GDPR fines issued as of 2024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$1.3M average HIPAA penalty per violation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GDPR Art 32: 'Encryption of personal data' required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GDPR Art 17: 'Right to be Forgotten' requires erasure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PCI-DSS Req 3: Encrypt PAN, manage crypto keys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SOX: Audit trail + access controls required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Industry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Healthcare: Patient records (ePHI), Insurance IDs, Prescriptions (HIPAA)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Financial: Account numbers, SSN, Tax IDs (PCI-DSS, SOX)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Gaming/Social: Payments, Chat logs, Identity (COPPA, GDPR)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Differentiator: Selective encryption + functional queryability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CSFLE vs Queryable Encryption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CSFLE (4.2+)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Deterministic/Random modes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Equality queries only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Mature/Battle-tested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Lower overhead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Share 1 DEK across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QE (7.0+)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Randomized encryption only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Equality AND Range queries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EMM-based crypto breakthrough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2-3x storage overhead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REQUIRES separate DEK per field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Envelope Encryption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KMS Provider (AWS/Azure/GCP/KMIP) - Holds CMK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MongoDB Key Vault - Holds Encrypted DEKs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Application Data - Encrypted by DEK (BSON Subtype 6)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Flow: Client retrieves DEK -&gt; Decrypt via KMS -&gt; Encrypt Data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Benefit: CMK rotation is cheap (only re-encrypt DEKs)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QE: Structured Encryption &amp; EMMs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Encrypted Multi-Maps (EMMs) enable server-side logic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Client generates 'tokens' encoding order relations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Server tests tokens ($gt, $lt, $eq) without plaintext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Private Querying: Access patterns redacted from logs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Security: Randomized encryption still searchable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QE Metadata Collections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.esc (System Catalog): Metadata mapping fields to DEKs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.ecoc (Context Cache): Stores query tokens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Impact: Sizing must account for these collections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Operations: Monthly compaction recommended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Backups: Must include enxcol_ collections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Challenge: Storage Overhead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Q: What is the overhead for a QE Range field?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A) 1.2x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B) 1.5x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C) 2-3x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D) 5x+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Answer: C (2-3x overhead)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Why? Multiple tokens for range capability per field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The Key Protection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☁️ KMS Provider: Enterprise Management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🔐 CMK (Master): Protects the DEKs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🔑 DEKs (Data): Stored encrypted, 1 per field (QE)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📄 Field Data: BSON Subtype 6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Zero-Downtime Rotation: rewrapManyDataKey()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GDPR: Crypto-Shredding at Scale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Problem: backups/logs contain user data after deletion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Pattern: 'One DEK per User'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Action: Delete user's DEK from Key Vault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Result: All user data (including backups) is unrecoverable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Compliance: Satisfies Art 17 'Right to be Forgotten'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Multi-Cloud KMS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BYOK (Bring Your Own Key)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Import key material to Cloud KMS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Full lifecycle control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Regulation custody compliant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Higher ops complexity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Managed Identity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Cloud provider generates/rotates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Low overhead / Native integration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Simpler ops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Sufficient for most audits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Integration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🤖 Automatic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Define encryptedFields map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Driver intercepts &amp; encrypts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No app code changes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Required for QE Range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👩‍💻 Explicit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Manual encrypt/decrypt calls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Full control over logic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Retrofitting legacy apps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Conditional logic support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QE Configuration 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8229600" cy="3343275"/>
          </a:xfrm>
          <a:prstGeom prst="roundRect">
            <a:avLst>
              <a:gd name="adj" fmla="val 2735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31570"/>
            <a:ext cx="7863840" cy="31375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encryptedFields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path: "ssn", bsonType: "string", queries: { queryType: "equality" }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path: "salary", bsonType: "int",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queries: { queryType: "range", min: 0, max: 1000000,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sparsity: 2, contention: 4 }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Query Support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✅ $eq, $ne, $in - All encrypted modes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✅ $gt, $lt, $gte, $lte - QE Range only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❌ $regex, $text search - Unsupported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❌ Sorting - Unsupported (leaks order)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❌ Aggregations ($group, $sum) - Unsupported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Contention Factor: balances throughput vs security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Honest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❌ No-go Zones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Sorting ciphertext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Regex/Partial matches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Server-side aggregations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Atlas Search on encrypted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028700"/>
            <a:ext cx="39319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</a:rPr>
              <a:t>✅ SA Workarounds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440180"/>
            <a:ext cx="393192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Client-side sort after decrypt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Tokenized search fields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Anonymized aggregation stores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313C"/>
                </a:solidFill>
              </a:rPr>
              <a:t>Separate analytics read models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Ops &amp; Performance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Storage: 2-3x (Range), 1.5x (Equality)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Write Latency: ~10% insert overhead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Writes: 1 insert -&gt; multiple internal writes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Compaction: Mandatory monthly online cleanup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Maintenance: Include enxcol_ collections in backups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Rotating Keys (Zero-Downtime)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8229600" cy="3343275"/>
          </a:xfrm>
          <a:prstGeom prst="roundRect">
            <a:avLst>
              <a:gd name="adj" fmla="val 2735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31570"/>
            <a:ext cx="7863840" cy="31375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clientEncryption.rewrapManyDataKey({},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"aws",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masterKey: { key: "arn:aws:kms...NEW-CMK"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Regulatory Compliance Mapping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GDPR Art 32: Field-level encryption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GDPR Art 17: 1 DEK per user (Erasure)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HIPAA: ePHI as BSON Subtype 6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PCI-DSS Req 3: Searchable encrypted PAN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Audit: KMS access logs for auditors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Competitive Differentiation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vs Oracle TDE: TDE decrypts in memory (DBAs see data)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vs Cosmos DB: Cosmos is deterministic-only (leaks patterns)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vs PostgreSQL: Server-side, no KMS integration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MongoDB: True zero-trust (server never sees plaintext)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Differentiator: Random encryption + Range queries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SA Discovery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Who should NOT see this data? (The killer question)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Is it acceptable for DBAs to see customer SSNs?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 you have 'Right to be Forgotten' requirements?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What is your key management security model?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 you need to search encrypted data?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Objection Handling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'We have TDE' -&gt; TDE leaks; we don't.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'It's too slow' -&gt; security vs performance trade-off.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'Can't search' -&gt; QE enables Equality and Range.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'Too complex' -&gt; Automatic mode needs no app changes.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'Compliance loves TDE' -&gt; mention 'unauthorized access' clauses.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Encryption Anti-Patterns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Don't encrypt fields for Sorting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Don't encrypt fields for Heavy Aggregations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Don't encrypt EVERYTHING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Don't use Local Key in production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Don't skip compaction for active users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Hands-on Training (3 x 34 min)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Lab 1: CSFLE Fundamentals &amp; Troubleshooting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Lab 2: QE Internals, .esc/.ecoc, and Sizing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Lab 3: GDPR Compliance &amp; Crypto-Shredding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Scenario: AWS KMS integration (Enterprise focus)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4A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QE = Randomized + Range Queries (the big one)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2-3x storage for Range - Capacity Plan now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Mandatory DEK per field (QE metadata binding)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Online Compaction for ongoing performance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Crypto-shredding satisfies GDPR Art 17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1313C"/>
                </a:solidFill>
              </a:rPr>
              <a:t>docs.mongodb.com/qe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2026-01-25T12:42:08Z</dcterms:created>
  <dcterms:modified xsi:type="dcterms:W3CDTF">2026-01-25T12:42:08Z</dcterms:modified>
</cp:coreProperties>
</file>