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9585" y="1729829"/>
            <a:ext cx="8355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ENABLEMENT SESSION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08532" y="2072729"/>
            <a:ext cx="6917436" cy="921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30"/>
              </a:lnSpc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Field Level Encryption &amp; Queryable Encryption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89585" y="3146971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Sensitive Data at the Application Layer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4754910"/>
            <a:ext cx="16785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Solutions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3048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1985070"/>
            <a:ext cx="310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985070"/>
            <a:ext cx="13088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990600" y="2223195"/>
            <a:ext cx="13088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customers need this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2497485"/>
            <a:ext cx="310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2497485"/>
            <a:ext cx="11339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90600" y="2735610"/>
            <a:ext cx="11339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wins deals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1500" y="3009900"/>
            <a:ext cx="310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0600" y="3009900"/>
            <a:ext cx="16036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Deep Dive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90600" y="3248025"/>
            <a:ext cx="1603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under the hood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" y="3522315"/>
            <a:ext cx="310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0600" y="3522315"/>
            <a:ext cx="2235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CSFLE vs Queryable Encryption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90600" y="3760440"/>
            <a:ext cx="2235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which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1538" y="1985070"/>
            <a:ext cx="310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00638" y="1985070"/>
            <a:ext cx="17087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Management &amp; KMS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100638" y="2223195"/>
            <a:ext cx="17087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encryption, rotation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1538" y="2497485"/>
            <a:ext cx="310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00638" y="2497485"/>
            <a:ext cx="17884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Positioning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100638" y="2735610"/>
            <a:ext cx="17884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Oracle, PostgreSQL, cloud DBs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1538" y="3009900"/>
            <a:ext cx="310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00638" y="3009900"/>
            <a:ext cx="22189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Objection Handling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100638" y="3248025"/>
            <a:ext cx="22189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to ask, FAQs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81538" y="3522315"/>
            <a:ext cx="3108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00638" y="3522315"/>
            <a:ext cx="15001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100638" y="3760440"/>
            <a:ext cx="15001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KMS + Azure Key Vault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3048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715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You Care?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778496"/>
            <a:ext cx="2202656" cy="1203871"/>
          </a:xfrm>
          <a:prstGeom prst="roundRect">
            <a:avLst>
              <a:gd name="adj" fmla="val 6330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1778496"/>
            <a:ext cx="0" cy="1203871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1968996"/>
            <a:ext cx="181922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$4.88M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0100" y="2471886"/>
            <a:ext cx="18192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cost of a data breach (IBM 2024)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556" y="1778496"/>
            <a:ext cx="2202656" cy="1203871"/>
          </a:xfrm>
          <a:prstGeom prst="roundRect">
            <a:avLst>
              <a:gd name="adj" fmla="val 6330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945606" y="1778496"/>
            <a:ext cx="0" cy="1203871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5156" y="1968996"/>
            <a:ext cx="181922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277 days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55156" y="2471886"/>
            <a:ext cx="181922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to identify and contain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" y="3134767"/>
            <a:ext cx="4557713" cy="1163538"/>
          </a:xfrm>
          <a:prstGeom prst="roundRect">
            <a:avLst>
              <a:gd name="adj" fmla="val 6549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3134767"/>
            <a:ext cx="0" cy="1163538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" y="3325267"/>
            <a:ext cx="42213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encryption gap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0100" y="3588097"/>
            <a:ext cx="4221385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encryption protects data at rest and in transit. But DBAs, cloud admins, and backup systems still see plaintext. When the database is compromised, so is your data.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357813" y="1946077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triggers to listen for: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357813" y="2233613"/>
            <a:ext cx="3314700" cy="388590"/>
          </a:xfrm>
          <a:prstGeom prst="roundRect">
            <a:avLst>
              <a:gd name="adj" fmla="val 1470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72113" y="2347913"/>
            <a:ext cx="31478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"We're moving to the cloud but security won't approve"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57813" y="2736503"/>
            <a:ext cx="3314700" cy="388590"/>
          </a:xfrm>
          <a:prstGeom prst="roundRect">
            <a:avLst>
              <a:gd name="adj" fmla="val 1470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72113" y="2850803"/>
            <a:ext cx="31478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"Our DBAs shouldn't see PII"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57813" y="3239393"/>
            <a:ext cx="3314700" cy="388590"/>
          </a:xfrm>
          <a:prstGeom prst="roundRect">
            <a:avLst>
              <a:gd name="adj" fmla="val 1470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72113" y="3353693"/>
            <a:ext cx="31478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need to meet GDPR / HIPAA / PCI-DSS"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57813" y="3742283"/>
            <a:ext cx="3314700" cy="388590"/>
          </a:xfrm>
          <a:prstGeom prst="roundRect">
            <a:avLst>
              <a:gd name="adj" fmla="val 1470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72113" y="3856583"/>
            <a:ext cx="31478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"Insider threat is a board-level concern"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3048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715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Wins Deals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2010817"/>
            <a:ext cx="1928813" cy="2074218"/>
          </a:xfrm>
          <a:prstGeom prst="roundRect">
            <a:avLst>
              <a:gd name="adj" fmla="val 3951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20131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ED6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3586" y="2258467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810917"/>
            <a:ext cx="1578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3073747"/>
            <a:ext cx="1578769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protection, HIPAA compliance, patient records encryption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62000" y="3627834"/>
            <a:ext cx="1578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SSN, DOB, diagnosis codes, insurance IDs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90813" y="2084189"/>
            <a:ext cx="1928813" cy="1927622"/>
          </a:xfrm>
          <a:prstGeom prst="roundRect">
            <a:avLst>
              <a:gd name="adj" fmla="val 395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81313" y="227468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ED6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52899" y="2331839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81313" y="2884289"/>
            <a:ext cx="1578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81313" y="3147120"/>
            <a:ext cx="157876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PCI-DSS, account numbers, transaction privacy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881313" y="3554611"/>
            <a:ext cx="1578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numbers, account balances, trading data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10125" y="2084189"/>
            <a:ext cx="1928813" cy="1927622"/>
          </a:xfrm>
          <a:prstGeom prst="roundRect">
            <a:avLst>
              <a:gd name="adj" fmla="val 395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00625" y="227468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ED6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2211" y="2331839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00625" y="2884289"/>
            <a:ext cx="1578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&amp; Gambling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00625" y="3147120"/>
            <a:ext cx="157876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compliance, fraud detection, player privacy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000625" y="3554611"/>
            <a:ext cx="1578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IDs, transaction history, betting patterns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29438" y="2084189"/>
            <a:ext cx="1928813" cy="1927622"/>
          </a:xfrm>
          <a:prstGeom prst="roundRect">
            <a:avLst>
              <a:gd name="adj" fmla="val 395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19938" y="227468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ED6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91524" y="2331839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19938" y="2884289"/>
            <a:ext cx="1578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19938" y="3147120"/>
            <a:ext cx="157876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data protection, sovereignty requirements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119938" y="3554611"/>
            <a:ext cx="1578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IDs, tax records, classified data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71500" y="4781550"/>
            <a:ext cx="3758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thread: Separation of duties between app owners and infrastructure operators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3048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715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Encryption</a:t>
            </a:r>
            <a:endParaRPr lang="en-US" sz="2400" dirty="0"/>
          </a:p>
        </p:txBody>
      </p:sp>
      <p:pic>
        <p:nvPicPr>
          <p:cNvPr id="5" name="Image 0" descr="/tmp/rasterized-gradient-8983f54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724620"/>
            <a:ext cx="3729038" cy="13038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" y="1953220"/>
            <a:ext cx="333727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Principle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0100" y="2242691"/>
            <a:ext cx="333727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encrypted by the application BEFORE it reaches MongoDB. The database never sees plaintext for protected fields.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71500" y="3180904"/>
            <a:ext cx="3729038" cy="1190327"/>
          </a:xfrm>
          <a:prstGeom prst="roundRect">
            <a:avLst>
              <a:gd name="adj" fmla="val 640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23900" y="3333304"/>
            <a:ext cx="34927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can't see the data: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723900" y="3620839"/>
            <a:ext cx="1011734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19150" y="3677989"/>
            <a:ext cx="8376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Admins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1811834" y="3620839"/>
            <a:ext cx="959346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907084" y="3677989"/>
            <a:ext cx="7842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Operators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2847380" y="3620839"/>
            <a:ext cx="970806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942630" y="3677989"/>
            <a:ext cx="7959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Systems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723900" y="3957935"/>
            <a:ext cx="957263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19150" y="4015085"/>
            <a:ext cx="782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Sniffers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05338" y="1729978"/>
            <a:ext cx="422624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approaches available: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05338" y="2030909"/>
            <a:ext cx="4143375" cy="1110407"/>
          </a:xfrm>
          <a:prstGeom prst="roundRect">
            <a:avLst>
              <a:gd name="adj" fmla="val 686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624387" y="2030909"/>
            <a:ext cx="0" cy="1110407"/>
          </a:xfrm>
          <a:prstGeom prst="line">
            <a:avLst/>
          </a:prstGeom>
          <a:noFill/>
          <a:ln w="38100">
            <a:solidFill>
              <a:srgbClr val="4DA6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95838" y="2183309"/>
            <a:ext cx="3876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D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CSFLE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95838" y="2408039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Field Level Encryption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795838" y="2668935"/>
            <a:ext cx="3876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or random encryption. Equality queries only on deterministic fields. Available since MongoDB 4.2.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05338" y="3255615"/>
            <a:ext cx="4143375" cy="1110407"/>
          </a:xfrm>
          <a:prstGeom prst="roundRect">
            <a:avLst>
              <a:gd name="adj" fmla="val 686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624387" y="3255615"/>
            <a:ext cx="0" cy="1110407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5838" y="3408015"/>
            <a:ext cx="3876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 Encryption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95838" y="3632746"/>
            <a:ext cx="38764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encrypted search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95838" y="3893641"/>
            <a:ext cx="38764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Equality, range, prefix, and suffix queries on encrypted data. Stronger security guarantees. GA in MongoDB 8.0.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931045" y="1819424"/>
            <a:ext cx="1333500" cy="807690"/>
          </a:xfrm>
          <a:prstGeom prst="roundRect">
            <a:avLst>
              <a:gd name="adj" fmla="val 9434"/>
            </a:avLst>
          </a:prstGeom>
          <a:solidFill>
            <a:srgbClr val="1C2333"/>
          </a:solidFill>
          <a:ln w="19050">
            <a:solidFill>
              <a:srgbClr val="00ED6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92589" y="1990874"/>
            <a:ext cx="10104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92589" y="218896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Driver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092589" y="2322314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libmongocrypt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524250" y="2024211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16945" y="2302222"/>
            <a:ext cx="3937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955405" y="1838474"/>
            <a:ext cx="1333500" cy="769590"/>
          </a:xfrm>
          <a:prstGeom prst="roundRect">
            <a:avLst>
              <a:gd name="adj" fmla="val 9901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97518" y="1990874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97518" y="2188964"/>
            <a:ext cx="10492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ciphertext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97518" y="2322314"/>
            <a:ext cx="10492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sees plaintext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74705" y="1752749"/>
            <a:ext cx="1524000" cy="941040"/>
          </a:xfrm>
          <a:prstGeom prst="roundRect">
            <a:avLst>
              <a:gd name="adj" fmla="val 8097"/>
            </a:avLst>
          </a:prstGeom>
          <a:solidFill>
            <a:srgbClr val="1C2333"/>
          </a:solidFill>
          <a:ln w="19050">
            <a:solidFill>
              <a:srgbClr val="FFB8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34344" y="1924199"/>
            <a:ext cx="12047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PROVIDER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4344" y="2122289"/>
            <a:ext cx="12047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KMS / Azure Key Vault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34344" y="2388989"/>
            <a:ext cx="12047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KMS / KMIP / Local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94089" y="2906167"/>
            <a:ext cx="874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67276" y="2846189"/>
            <a:ext cx="874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65614" y="3086100"/>
            <a:ext cx="4989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DEKs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200525" y="3358455"/>
            <a:ext cx="3048000" cy="546646"/>
          </a:xfrm>
          <a:prstGeom prst="roundRect">
            <a:avLst>
              <a:gd name="adj" fmla="val 1394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86631" y="3472755"/>
            <a:ext cx="28757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VAULT COLLECTION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286631" y="3657451"/>
            <a:ext cx="2875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encrypted Data Encryption Keys (DEKs)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959894" y="4143226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31344" y="4133701"/>
            <a:ext cx="15716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Encryption/Decryption happens here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900761" y="4143226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B8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72211" y="4133701"/>
            <a:ext cx="1425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Customer-controlled key material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5750" y="50289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CSFLE vs Queryable Encryption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1518493"/>
            <a:ext cx="3977580" cy="607516"/>
          </a:xfrm>
          <a:prstGeom prst="roundRect">
            <a:avLst>
              <a:gd name="adj" fmla="val 12543"/>
            </a:avLst>
          </a:prstGeom>
          <a:solidFill>
            <a:srgbClr val="4D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632793"/>
            <a:ext cx="37462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1865114"/>
            <a:ext cx="3746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since MongoDB 4.2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71500" y="2202210"/>
            <a:ext cx="3977580" cy="2077938"/>
          </a:xfrm>
          <a:prstGeom prst="rect">
            <a:avLst/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3900" y="2354610"/>
            <a:ext cx="3746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TYPES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23900" y="2577405"/>
            <a:ext cx="37462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Deterministic: Same plaintext → same ciphertext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3900" y="2775496"/>
            <a:ext cx="37462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Random: Different ciphertext each 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3900" y="3049786"/>
            <a:ext cx="3746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SUPPORT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23900" y="3272582"/>
            <a:ext cx="37462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 only (deterministic fields)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3900" y="3470672"/>
            <a:ext cx="37462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range, prefix, or suffix queries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3900" y="3744962"/>
            <a:ext cx="3746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CONSIDERATIONS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23900" y="3967758"/>
            <a:ext cx="37462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encryption reveals patterns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39580" y="1518493"/>
            <a:ext cx="3977580" cy="607516"/>
          </a:xfrm>
          <a:prstGeom prst="roundRect">
            <a:avLst>
              <a:gd name="adj" fmla="val 12543"/>
            </a:avLst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91980" y="1632793"/>
            <a:ext cx="37462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 Encryption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1980" y="1865114"/>
            <a:ext cx="3746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in MongoDB 8.0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39580" y="2202210"/>
            <a:ext cx="3977580" cy="2077938"/>
          </a:xfrm>
          <a:prstGeom prst="rect">
            <a:avLst/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91980" y="2354610"/>
            <a:ext cx="3746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TYPE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91980" y="2577405"/>
            <a:ext cx="37462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randomized (no patterns revealed)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1980" y="2851696"/>
            <a:ext cx="3746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SUPPORT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91980" y="3074491"/>
            <a:ext cx="37462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 queries supported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1980" y="3272582"/>
            <a:ext cx="37462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queries ($gt, $lt, $gte, $lte)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1980" y="3470672"/>
            <a:ext cx="37462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and Suffix matching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1980" y="3744962"/>
            <a:ext cx="3746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CONSIDERATIONS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891980" y="3967758"/>
            <a:ext cx="37462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frequency analysis vulnerability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1500" y="4781550"/>
            <a:ext cx="42148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Use QE for new implementations on MongoDB 8.0+. CSFLE for older versions.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MODES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vs Explicit Encryption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1169045"/>
            <a:ext cx="3977580" cy="689521"/>
          </a:xfrm>
          <a:prstGeom prst="roundRect">
            <a:avLst>
              <a:gd name="adj" fmla="val 11051"/>
            </a:avLst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321445"/>
            <a:ext cx="37462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Encryption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23900" y="1559570"/>
            <a:ext cx="3746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Advanced / Atlas required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71500" y="1972866"/>
            <a:ext cx="3977580" cy="796082"/>
          </a:xfrm>
          <a:prstGeom prst="roundRect">
            <a:avLst>
              <a:gd name="adj" fmla="val 957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4850" y="2106216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850" y="2342406"/>
            <a:ext cx="378509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defines which fields to encrypt. Driver handles encryption/decryption transparently.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71500" y="2883247"/>
            <a:ext cx="3977580" cy="1018877"/>
          </a:xfrm>
          <a:prstGeom prst="roundRect">
            <a:avLst>
              <a:gd name="adj" fmla="val 7479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850" y="3016597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4850" y="3252788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code changes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04850" y="3437483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enforcement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04850" y="3622179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developer error risk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71500" y="4016425"/>
            <a:ext cx="3977580" cy="834182"/>
          </a:xfrm>
          <a:prstGeom prst="roundRect">
            <a:avLst>
              <a:gd name="adj" fmla="val 9135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4850" y="4149775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850" y="4385965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Enterprise/Atlas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04850" y="4570661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granular control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39580" y="1242417"/>
            <a:ext cx="3977580" cy="689521"/>
          </a:xfrm>
          <a:prstGeom prst="roundRect">
            <a:avLst>
              <a:gd name="adj" fmla="val 11051"/>
            </a:avLst>
          </a:prstGeom>
          <a:solidFill>
            <a:srgbClr val="4D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91980" y="1394817"/>
            <a:ext cx="37462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Encryption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891980" y="1632942"/>
            <a:ext cx="3746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Edition compatible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39580" y="2046238"/>
            <a:ext cx="3977580" cy="649486"/>
          </a:xfrm>
          <a:prstGeom prst="roundRect">
            <a:avLst>
              <a:gd name="adj" fmla="val 1173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2930" y="2179588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2930" y="2415778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code explicitly calls encrypt/decrypt methods on specific fields.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739580" y="2810024"/>
            <a:ext cx="3977580" cy="1018877"/>
          </a:xfrm>
          <a:prstGeom prst="roundRect">
            <a:avLst>
              <a:gd name="adj" fmla="val 7479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72930" y="2943374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D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2930" y="3179564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Community Edition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872930" y="3364260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over what/when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72930" y="3548955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implementation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739580" y="3943201"/>
            <a:ext cx="3977580" cy="834182"/>
          </a:xfrm>
          <a:prstGeom prst="roundRect">
            <a:avLst>
              <a:gd name="adj" fmla="val 9135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72930" y="4076551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72930" y="4312741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code changes required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72930" y="4497437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must remember to encrypt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 ENCRYPTION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Query Types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1973759"/>
            <a:ext cx="1957388" cy="1104751"/>
          </a:xfrm>
          <a:prstGeom prst="roundRect">
            <a:avLst>
              <a:gd name="adj" fmla="val 689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71500" y="1988046"/>
            <a:ext cx="1957388" cy="0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900" y="2154734"/>
            <a:ext cx="16856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3900" y="2417564"/>
            <a:ext cx="16856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$eq, $ne, $in, $nin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23900" y="2640360"/>
            <a:ext cx="1652588" cy="28575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2716560"/>
            <a:ext cx="1530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ssn: "123-45-6789" }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681288" y="1973759"/>
            <a:ext cx="1957388" cy="1104751"/>
          </a:xfrm>
          <a:prstGeom prst="roundRect">
            <a:avLst>
              <a:gd name="adj" fmla="val 689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681288" y="1988046"/>
            <a:ext cx="1957387" cy="0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3688" y="2154734"/>
            <a:ext cx="16856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33688" y="2417564"/>
            <a:ext cx="16856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$gt, $gte, $lt, $lte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833688" y="2640360"/>
            <a:ext cx="1652588" cy="28575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09888" y="2716560"/>
            <a:ext cx="1530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salary: { $gte: 50000 } }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91075" y="1973759"/>
            <a:ext cx="1957388" cy="1104751"/>
          </a:xfrm>
          <a:prstGeom prst="roundRect">
            <a:avLst>
              <a:gd name="adj" fmla="val 689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91075" y="1988046"/>
            <a:ext cx="1957388" cy="0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43475" y="2154734"/>
            <a:ext cx="16856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43475" y="2417564"/>
            <a:ext cx="16856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with matching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943475" y="2640360"/>
            <a:ext cx="1652588" cy="28575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19675" y="2716560"/>
            <a:ext cx="1530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email: /^john/ }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00863" y="1973759"/>
            <a:ext cx="1957388" cy="1104751"/>
          </a:xfrm>
          <a:prstGeom prst="roundRect">
            <a:avLst>
              <a:gd name="adj" fmla="val 689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900863" y="1988046"/>
            <a:ext cx="1957388" cy="0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3263" y="2154734"/>
            <a:ext cx="16856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Suffix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53263" y="2417564"/>
            <a:ext cx="16856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with matching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053263" y="2640360"/>
            <a:ext cx="1652588" cy="28575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29463" y="2716560"/>
            <a:ext cx="1530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domain: /@corp.com$/ }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71500" y="3192810"/>
            <a:ext cx="8286750" cy="853232"/>
          </a:xfrm>
          <a:prstGeom prst="roundRect">
            <a:avLst>
              <a:gd name="adj" fmla="val 8931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3900" y="3345210"/>
            <a:ext cx="81415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Data Types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723900" y="3632746"/>
            <a:ext cx="502444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38200" y="3689896"/>
            <a:ext cx="279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340644" y="3632746"/>
            <a:ext cx="706189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454944" y="3689896"/>
            <a:ext cx="4871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(32/64)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2161133" y="3632746"/>
            <a:ext cx="560636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275433" y="3689896"/>
            <a:ext cx="3386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2836069" y="3632746"/>
            <a:ext cx="781943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950369" y="3689896"/>
            <a:ext cx="5644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Decimal128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3732312" y="3632746"/>
            <a:ext cx="450056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846612" y="3689896"/>
            <a:ext cx="2258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296668" y="3632746"/>
            <a:ext cx="618827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410968" y="3689896"/>
            <a:ext cx="398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ObjectId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5029795" y="3632746"/>
            <a:ext cx="484733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144095" y="3689896"/>
            <a:ext cx="2612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5628829" y="3632746"/>
            <a:ext cx="601414" cy="260896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743129" y="3689896"/>
            <a:ext cx="3802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BinData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571500" y="4781550"/>
            <a:ext cx="3600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Query type support varies. Range, prefix, suffix require Queryable Encryption.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KNOWLEDGE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CAN'T Do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1586210"/>
            <a:ext cx="40571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Restrictions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1500" y="1854696"/>
            <a:ext cx="3977580" cy="573286"/>
          </a:xfrm>
          <a:prstGeom prst="roundRect">
            <a:avLst>
              <a:gd name="adj" fmla="val 1329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85788" y="1854696"/>
            <a:ext cx="0" cy="573286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375" y="1968996"/>
            <a:ext cx="3794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regex (except prefix/suffix)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4375" y="2167086"/>
            <a:ext cx="3794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do arbitrary pattern matching on encrypted fields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71500" y="2523232"/>
            <a:ext cx="3977580" cy="573286"/>
          </a:xfrm>
          <a:prstGeom prst="roundRect">
            <a:avLst>
              <a:gd name="adj" fmla="val 1329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85788" y="2523232"/>
            <a:ext cx="0" cy="573286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375" y="2637532"/>
            <a:ext cx="3794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aggregation operators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4375" y="2835622"/>
            <a:ext cx="3794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$sum, $avg, $group on encrypted fields not supported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71500" y="3191768"/>
            <a:ext cx="3977580" cy="573286"/>
          </a:xfrm>
          <a:prstGeom prst="roundRect">
            <a:avLst>
              <a:gd name="adj" fmla="val 1329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5788" y="3191768"/>
            <a:ext cx="0" cy="573286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375" y="3306068"/>
            <a:ext cx="3794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sorting on encrypted fields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4375" y="3504158"/>
            <a:ext cx="3794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is not preserved in ciphertext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71500" y="3860304"/>
            <a:ext cx="3977580" cy="573286"/>
          </a:xfrm>
          <a:prstGeom prst="roundRect">
            <a:avLst>
              <a:gd name="adj" fmla="val 1329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85788" y="3860304"/>
            <a:ext cx="0" cy="573286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375" y="3974604"/>
            <a:ext cx="3794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text search / Atlas 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4375" y="4172694"/>
            <a:ext cx="3794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indexing not possible on encrypted data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39580" y="1586210"/>
            <a:ext cx="40571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Considerations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39580" y="1854696"/>
            <a:ext cx="3977580" cy="573286"/>
          </a:xfrm>
          <a:prstGeom prst="roundRect">
            <a:avLst>
              <a:gd name="adj" fmla="val 1329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53868" y="1854696"/>
            <a:ext cx="0" cy="573286"/>
          </a:xfrm>
          <a:prstGeom prst="line">
            <a:avLst/>
          </a:prstGeom>
          <a:noFill/>
          <a:ln w="28575">
            <a:solidFill>
              <a:srgbClr val="FFB8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455" y="1968996"/>
            <a:ext cx="3794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Field-level, not document-level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82455" y="2167086"/>
            <a:ext cx="3794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specify each field; can't encrypt entire documents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39580" y="2523232"/>
            <a:ext cx="3977580" cy="573286"/>
          </a:xfrm>
          <a:prstGeom prst="roundRect">
            <a:avLst>
              <a:gd name="adj" fmla="val 1329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53868" y="2523232"/>
            <a:ext cx="0" cy="573286"/>
          </a:xfrm>
          <a:prstGeom prst="line">
            <a:avLst/>
          </a:prstGeom>
          <a:noFill/>
          <a:ln w="28575">
            <a:solidFill>
              <a:srgbClr val="FFB8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455" y="2637532"/>
            <a:ext cx="3794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changes require re-encryption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82455" y="2835622"/>
            <a:ext cx="3794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encryption on existing data needs migration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739580" y="3191768"/>
            <a:ext cx="3977580" cy="573286"/>
          </a:xfrm>
          <a:prstGeom prst="roundRect">
            <a:avLst>
              <a:gd name="adj" fmla="val 1329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753868" y="3191768"/>
            <a:ext cx="0" cy="573286"/>
          </a:xfrm>
          <a:prstGeom prst="line">
            <a:avLst/>
          </a:prstGeom>
          <a:noFill/>
          <a:ln w="28575">
            <a:solidFill>
              <a:srgbClr val="FFB8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455" y="3306068"/>
            <a:ext cx="3794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limitations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455" y="3504158"/>
            <a:ext cx="3794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specific index types supported per query type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739580" y="3860304"/>
            <a:ext cx="3977580" cy="573286"/>
          </a:xfrm>
          <a:prstGeom prst="roundRect">
            <a:avLst>
              <a:gd name="adj" fmla="val 1329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753868" y="3860304"/>
            <a:ext cx="0" cy="573286"/>
          </a:xfrm>
          <a:prstGeom prst="line">
            <a:avLst/>
          </a:prstGeom>
          <a:noFill/>
          <a:ln w="28575">
            <a:solidFill>
              <a:srgbClr val="FFB8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455" y="3974604"/>
            <a:ext cx="3794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support varies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82455" y="4172694"/>
            <a:ext cx="3794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driver version compatibility for QE features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571500" y="4781550"/>
            <a:ext cx="40914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message: Set proper expectations early. Know limitations before customer discovers them.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MANAGEMENT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Encryption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1696641"/>
            <a:ext cx="2095500" cy="611386"/>
          </a:xfrm>
          <a:prstGeom prst="roundRect">
            <a:avLst>
              <a:gd name="adj" fmla="val 12463"/>
            </a:avLst>
          </a:prstGeom>
          <a:solidFill>
            <a:srgbClr val="FFB8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4850" y="1829991"/>
            <a:ext cx="18653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Master Key (CMK)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04850" y="2041327"/>
            <a:ext cx="1865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KMS (AWS/Azure/GCP/KMIP)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81300" y="1735634"/>
            <a:ext cx="17387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leaves KMS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81300" y="2002334"/>
            <a:ext cx="17387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controlled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24000" y="2422327"/>
            <a:ext cx="36773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wraps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2723257"/>
            <a:ext cx="2095500" cy="611386"/>
          </a:xfrm>
          <a:prstGeom prst="roundRect">
            <a:avLst>
              <a:gd name="adj" fmla="val 12463"/>
            </a:avLst>
          </a:prstGeom>
          <a:solidFill>
            <a:srgbClr val="4D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850" y="2856607"/>
            <a:ext cx="18653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Encryption Key (DEK)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04850" y="3067943"/>
            <a:ext cx="1865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encrypted in Key Vault collection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81300" y="2762250"/>
            <a:ext cx="19443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field/use case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81300" y="3028950"/>
            <a:ext cx="19443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at rest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24000" y="3448943"/>
            <a:ext cx="36773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encrypts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1500" y="3749873"/>
            <a:ext cx="2095500" cy="611386"/>
          </a:xfrm>
          <a:prstGeom prst="roundRect">
            <a:avLst>
              <a:gd name="adj" fmla="val 12463"/>
            </a:avLst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4850" y="3883223"/>
            <a:ext cx="18653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Sensitive Data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04850" y="4094559"/>
            <a:ext cx="1865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SSN, PII, PHI, card numbers, etc.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81300" y="3788866"/>
            <a:ext cx="2214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in app memory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81300" y="4055566"/>
            <a:ext cx="22140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as ciphertext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19713" y="1696641"/>
            <a:ext cx="3314700" cy="1331119"/>
          </a:xfrm>
          <a:prstGeom prst="roundRect">
            <a:avLst>
              <a:gd name="adj" fmla="val 5725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72113" y="1849041"/>
            <a:ext cx="30700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Envelope Encryption?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472113" y="2117527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CMK rotation doesn't require data re-encryption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472113" y="2321272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DEKs for different data classifications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472113" y="2525018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in KMS for key access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472113" y="2728764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compliance requirements for key separation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319713" y="3142059"/>
            <a:ext cx="3314700" cy="763637"/>
          </a:xfrm>
          <a:prstGeom prst="roundRect">
            <a:avLst>
              <a:gd name="adj" fmla="val 9979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334000" y="3142059"/>
            <a:ext cx="0" cy="763637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1638" y="3275409"/>
            <a:ext cx="307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Talking Point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481638" y="3479155"/>
            <a:ext cx="307981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keep the master keys. Even MongoDB/Atlas can never see your plaintext data."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MANAGEMENT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KMS Providers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2027039"/>
            <a:ext cx="1957388" cy="1965722"/>
          </a:xfrm>
          <a:prstGeom prst="roundRect">
            <a:avLst>
              <a:gd name="adj" fmla="val 389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217943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0718" y="2263229"/>
            <a:ext cx="3541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2789039"/>
            <a:ext cx="16856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KMS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900" y="3051870"/>
            <a:ext cx="168563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IAM-based authentication, regional key management, CloudTrail audit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23900" y="3421261"/>
            <a:ext cx="1652588" cy="419100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0100" y="3497461"/>
            <a:ext cx="15301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accessKeyId, secretAccessKey, region, key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81288" y="1953667"/>
            <a:ext cx="1957388" cy="2112318"/>
          </a:xfrm>
          <a:prstGeom prst="roundRect">
            <a:avLst>
              <a:gd name="adj" fmla="val 389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33688" y="210606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65388" y="2216497"/>
            <a:ext cx="3239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3688" y="2715667"/>
            <a:ext cx="16856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33688" y="2978497"/>
            <a:ext cx="1685639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AD auth, RBAC, HSM-backed option, managed identity support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833688" y="3494484"/>
            <a:ext cx="1652588" cy="419100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09888" y="3570684"/>
            <a:ext cx="15301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tenantId, clientId, clientSecret, keyVaultEndpoint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91075" y="2027039"/>
            <a:ext cx="1957388" cy="1965722"/>
          </a:xfrm>
          <a:prstGeom prst="roundRect">
            <a:avLst>
              <a:gd name="adj" fmla="val 389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43475" y="217943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10001" y="2289870"/>
            <a:ext cx="2527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43475" y="2789039"/>
            <a:ext cx="16856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KMS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43475" y="3051870"/>
            <a:ext cx="168563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 auth, key rings and crypto keys, Cloud Audit Logs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943475" y="3421261"/>
            <a:ext cx="1652588" cy="419100"/>
          </a:xfrm>
          <a:prstGeom prst="roundRect">
            <a:avLst>
              <a:gd name="adj" fmla="val 9091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19675" y="3497461"/>
            <a:ext cx="15301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projectId, location, keyRing, keyName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900863" y="2020342"/>
            <a:ext cx="1957388" cy="1978968"/>
          </a:xfrm>
          <a:prstGeom prst="roundRect">
            <a:avLst>
              <a:gd name="adj" fmla="val 389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53263" y="217274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6B4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12794" y="2289870"/>
            <a:ext cx="2671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KMIP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053263" y="2782342"/>
            <a:ext cx="16856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KMIP Server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53263" y="3045172"/>
            <a:ext cx="1685639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Thales, HashiCorp Vault Enterprise, any KMIP 1.2+ compliant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053263" y="3561159"/>
            <a:ext cx="1652588" cy="28575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129463" y="3637359"/>
            <a:ext cx="1530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endpoint, tlsCertificate, tlsKey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1500" y="4781550"/>
            <a:ext cx="84524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key provider available for development/testing only. Never use in production - keys stored in application memory.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MANAGEMENT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Rotation Strategies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1351062"/>
            <a:ext cx="3977580" cy="453330"/>
          </a:xfrm>
          <a:prstGeom prst="roundRect">
            <a:avLst>
              <a:gd name="adj" fmla="val 16809"/>
            </a:avLst>
          </a:prstGeom>
          <a:solidFill>
            <a:srgbClr val="FFB8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4850" y="1484412"/>
            <a:ext cx="3785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CMK Rotation (in KMS)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1918692"/>
            <a:ext cx="3977580" cy="796082"/>
          </a:xfrm>
          <a:prstGeom prst="roundRect">
            <a:avLst>
              <a:gd name="adj" fmla="val 957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850" y="2052042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850" y="2288232"/>
            <a:ext cx="378509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CMK rotation only requires re-wrapping DEKs in the key vault. The encrypted data itself doesn't change.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71500" y="2829074"/>
            <a:ext cx="3977580" cy="1203573"/>
          </a:xfrm>
          <a:prstGeom prst="roundRect">
            <a:avLst>
              <a:gd name="adj" fmla="val 6331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4850" y="2962424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850" y="3198614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 new CMK in KMS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04850" y="3383310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Re-wrap each DEK with new CMK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04850" y="3568005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Update key vault collection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04850" y="3752701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Optionally decommission old CMK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71500" y="4146947"/>
            <a:ext cx="3977580" cy="521791"/>
          </a:xfrm>
          <a:prstGeom prst="roundRect">
            <a:avLst>
              <a:gd name="adj" fmla="val 1460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800" y="4261247"/>
            <a:ext cx="382396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KMS providers support automatic CMK rotation (AWS: annual, Azure: configurable)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777680" y="1516707"/>
            <a:ext cx="3977580" cy="453330"/>
          </a:xfrm>
          <a:prstGeom prst="roundRect">
            <a:avLst>
              <a:gd name="adj" fmla="val 16809"/>
            </a:avLst>
          </a:prstGeom>
          <a:solidFill>
            <a:srgbClr val="4D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1030" y="1650057"/>
            <a:ext cx="37850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 Rotation (Data Re-encryption)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7680" y="2084338"/>
            <a:ext cx="3977580" cy="796082"/>
          </a:xfrm>
          <a:prstGeom prst="roundRect">
            <a:avLst>
              <a:gd name="adj" fmla="val 957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1030" y="2217688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Impact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1030" y="2453878"/>
            <a:ext cx="378509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 rotation requires re-encrypting all data protected by that DEK. Plan for downtime or rolling updates.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77680" y="2994720"/>
            <a:ext cx="3977580" cy="1018877"/>
          </a:xfrm>
          <a:prstGeom prst="roundRect">
            <a:avLst>
              <a:gd name="adj" fmla="val 7479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11030" y="3128070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Required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11030" y="3364260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 key compromise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911030" y="3548955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mandates (some require annual)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911030" y="3733651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departure with key access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77680" y="4127897"/>
            <a:ext cx="3977580" cy="375196"/>
          </a:xfrm>
          <a:prstGeom prst="roundRect">
            <a:avLst>
              <a:gd name="adj" fmla="val 20309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91980" y="4242197"/>
            <a:ext cx="38239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MongoDB's rewrapManyDataKey() for bulk DEK updates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Considerations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1339453"/>
            <a:ext cx="4557713" cy="2207716"/>
          </a:xfrm>
          <a:prstGeom prst="roundRect">
            <a:avLst>
              <a:gd name="adj" fmla="val 3452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491853"/>
            <a:ext cx="43379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Overhead Occurs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23900" y="1779389"/>
            <a:ext cx="2069306" cy="693390"/>
          </a:xfrm>
          <a:prstGeom prst="roundRect">
            <a:avLst>
              <a:gd name="adj" fmla="val 824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200" y="1893689"/>
            <a:ext cx="18775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Encryption/Decryption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8200" y="2091779"/>
            <a:ext cx="1877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cycles in app layer. Modern CPUs with AES-NI make this minimal.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07506" y="1779389"/>
            <a:ext cx="2069306" cy="693390"/>
          </a:xfrm>
          <a:prstGeom prst="roundRect">
            <a:avLst>
              <a:gd name="adj" fmla="val 824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21806" y="1893689"/>
            <a:ext cx="18775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Calls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21806" y="2091779"/>
            <a:ext cx="1877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 unwrapping requires KMS round-trip. Cached after first call per session.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23900" y="2701379"/>
            <a:ext cx="2069306" cy="693390"/>
          </a:xfrm>
          <a:prstGeom prst="roundRect">
            <a:avLst>
              <a:gd name="adj" fmla="val 824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8200" y="2815679"/>
            <a:ext cx="18775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8200" y="3013770"/>
            <a:ext cx="1877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 is larger than plaintext. QE metadata adds additional overhead.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907506" y="2701379"/>
            <a:ext cx="2069306" cy="693390"/>
          </a:xfrm>
          <a:prstGeom prst="roundRect">
            <a:avLst>
              <a:gd name="adj" fmla="val 8242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21806" y="2815679"/>
            <a:ext cx="18775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Processing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21806" y="3013770"/>
            <a:ext cx="1877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maintains encrypted indexes. Range queries touch more index entries.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71500" y="3661470"/>
            <a:ext cx="4557713" cy="1018877"/>
          </a:xfrm>
          <a:prstGeom prst="roundRect">
            <a:avLst>
              <a:gd name="adj" fmla="val 7479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4850" y="3794820"/>
            <a:ext cx="43768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Ballpark Numbers (varies by workload)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4850" y="4031010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CSFLE: 5-15% latency increase for encrypted field operations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04850" y="4215705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Range: 2-3x storage for encrypted fields with range indexes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04850" y="4400401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query: 50-100ms additional (KMS call), subsequent: minimal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319713" y="1287214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Tips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319713" y="1574750"/>
            <a:ext cx="3314700" cy="777032"/>
          </a:xfrm>
          <a:prstGeom prst="roundRect">
            <a:avLst>
              <a:gd name="adj" fmla="val 980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334000" y="1574750"/>
            <a:ext cx="0" cy="777032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1638" y="1708100"/>
            <a:ext cx="307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selectively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1638" y="1925241"/>
            <a:ext cx="307981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encrypt fields that truly need protection. Not everything is PII.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319713" y="2466082"/>
            <a:ext cx="3314700" cy="630436"/>
          </a:xfrm>
          <a:prstGeom prst="roundRect">
            <a:avLst>
              <a:gd name="adj" fmla="val 1208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34000" y="2466082"/>
            <a:ext cx="0" cy="630436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1638" y="2599432"/>
            <a:ext cx="307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 caching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1638" y="2816572"/>
            <a:ext cx="307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connection pooling to reuse DEKs across requests.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319713" y="3210818"/>
            <a:ext cx="3314700" cy="777032"/>
          </a:xfrm>
          <a:prstGeom prst="roundRect">
            <a:avLst>
              <a:gd name="adj" fmla="val 980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334000" y="3210818"/>
            <a:ext cx="0" cy="777032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1638" y="3344168"/>
            <a:ext cx="307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Contention factor tuning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1638" y="3561308"/>
            <a:ext cx="307981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QE: Balance query performance vs. security with appropriate contention settings.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5319713" y="4102150"/>
            <a:ext cx="3314700" cy="630436"/>
          </a:xfrm>
          <a:prstGeom prst="roundRect">
            <a:avLst>
              <a:gd name="adj" fmla="val 1208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334000" y="4102150"/>
            <a:ext cx="0" cy="630436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1638" y="4235500"/>
            <a:ext cx="307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proximity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1638" y="4452640"/>
            <a:ext cx="307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KMS in same region as application for lower latency.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Alignment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2342257"/>
            <a:ext cx="1957388" cy="1335286"/>
          </a:xfrm>
          <a:prstGeom prst="roundRect">
            <a:avLst>
              <a:gd name="adj" fmla="val 57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2494657"/>
            <a:ext cx="455116" cy="222796"/>
          </a:xfrm>
          <a:prstGeom prst="roundRect">
            <a:avLst>
              <a:gd name="adj" fmla="val 17101"/>
            </a:avLst>
          </a:prstGeom>
          <a:solidFill>
            <a:srgbClr val="4D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2532757"/>
            <a:ext cx="308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23900" y="2812703"/>
            <a:ext cx="16856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Data Protection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3900" y="304889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✓Art. 32 - Data encryption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23900" y="322034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✓Art. 25 - Privacy by design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23900" y="339179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✓Pseudonymization of personal data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81288" y="2342257"/>
            <a:ext cx="1957388" cy="1335286"/>
          </a:xfrm>
          <a:prstGeom prst="roundRect">
            <a:avLst>
              <a:gd name="adj" fmla="val 57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33688" y="2494657"/>
            <a:ext cx="470743" cy="222796"/>
          </a:xfrm>
          <a:prstGeom prst="roundRect">
            <a:avLst>
              <a:gd name="adj" fmla="val 17101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09888" y="2532757"/>
            <a:ext cx="3247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833688" y="2812703"/>
            <a:ext cx="16856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3688" y="304889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✓PHI encryption at rest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833688" y="322034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✓Access controls via key mgmt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833688" y="339179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✓Audit trail through KMS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91075" y="2342257"/>
            <a:ext cx="1957388" cy="1335286"/>
          </a:xfrm>
          <a:prstGeom prst="roundRect">
            <a:avLst>
              <a:gd name="adj" fmla="val 57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43475" y="2494657"/>
            <a:ext cx="577453" cy="222796"/>
          </a:xfrm>
          <a:prstGeom prst="roundRect">
            <a:avLst>
              <a:gd name="adj" fmla="val 17101"/>
            </a:avLst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19675" y="2532757"/>
            <a:ext cx="4335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PCI-DSS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943475" y="2812703"/>
            <a:ext cx="16856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Card 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43475" y="304889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✓Req 3.4 - Render PAN unreadable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43475" y="322034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✓Req 3.5 - Key management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43475" y="339179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✓Separation of duties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900863" y="2342257"/>
            <a:ext cx="1957388" cy="1335286"/>
          </a:xfrm>
          <a:prstGeom prst="roundRect">
            <a:avLst>
              <a:gd name="adj" fmla="val 57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53263" y="2494657"/>
            <a:ext cx="746373" cy="222796"/>
          </a:xfrm>
          <a:prstGeom prst="roundRect">
            <a:avLst>
              <a:gd name="adj" fmla="val 17101"/>
            </a:avLst>
          </a:prstGeom>
          <a:solidFill>
            <a:srgbClr val="FFB8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29463" y="2532757"/>
            <a:ext cx="6058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SOX / SOC2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053263" y="2812703"/>
            <a:ext cx="16856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Controls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53263" y="304889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✓Data integrity controls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053263" y="322034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✓Access segregation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053263" y="3391793"/>
            <a:ext cx="16856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✓Encryption key controls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1500" y="4591050"/>
            <a:ext cx="8286750" cy="323850"/>
          </a:xfrm>
          <a:prstGeom prst="roundRect">
            <a:avLst>
              <a:gd name="adj" fmla="val 1764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66750" y="4686300"/>
            <a:ext cx="825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Client-side encryption addresses the "zero trust" requirement - even infrastructure operators can't access plaintext data.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Compare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2007989"/>
            <a:ext cx="2651671" cy="377130"/>
          </a:xfrm>
          <a:prstGeom prst="roundRect">
            <a:avLst>
              <a:gd name="adj" fmla="val 20205"/>
            </a:avLst>
          </a:prstGeom>
          <a:solidFill>
            <a:srgbClr val="C746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4850" y="2103239"/>
            <a:ext cx="24326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TDE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2499420"/>
            <a:ext cx="2651671" cy="1512391"/>
          </a:xfrm>
          <a:prstGeom prst="rect">
            <a:avLst/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850" y="2632770"/>
            <a:ext cx="2432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approach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04850" y="2836515"/>
            <a:ext cx="2432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TDE. DBAs see plaintext. Encryption at tablespace level.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04850" y="3198465"/>
            <a:ext cx="2432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advantage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704850" y="3402211"/>
            <a:ext cx="24326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DBAs never see plaintext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04850" y="3573661"/>
            <a:ext cx="24326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granularity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04850" y="3745111"/>
            <a:ext cx="24326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on encrypted data (QE)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75571" y="2007989"/>
            <a:ext cx="2651671" cy="377130"/>
          </a:xfrm>
          <a:prstGeom prst="roundRect">
            <a:avLst>
              <a:gd name="adj" fmla="val 20205"/>
            </a:avLst>
          </a:prstGeom>
          <a:solidFill>
            <a:srgbClr val="3367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08921" y="2103239"/>
            <a:ext cx="24326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pgcrypto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75571" y="2499420"/>
            <a:ext cx="2651671" cy="1512391"/>
          </a:xfrm>
          <a:prstGeom prst="rect">
            <a:avLst/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08921" y="2632770"/>
            <a:ext cx="2432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approach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508921" y="2836515"/>
            <a:ext cx="2432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encrypt/decrypt in SQL. No automatic handling. No search capability.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08921" y="3198465"/>
            <a:ext cx="2432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advantage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508921" y="3402211"/>
            <a:ext cx="24326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encryption mode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508921" y="3573661"/>
            <a:ext cx="24326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KMS integration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508921" y="3745111"/>
            <a:ext cx="24326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query support (QE)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79641" y="2007989"/>
            <a:ext cx="2651671" cy="377130"/>
          </a:xfrm>
          <a:prstGeom prst="roundRect">
            <a:avLst>
              <a:gd name="adj" fmla="val 20205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12991" y="2103239"/>
            <a:ext cx="243267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Cosmos DB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79641" y="2499420"/>
            <a:ext cx="2651671" cy="1512391"/>
          </a:xfrm>
          <a:prstGeom prst="rect">
            <a:avLst/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12991" y="2632770"/>
            <a:ext cx="2432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approach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312991" y="2836515"/>
            <a:ext cx="2432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Encrypted (preview). Limited data types. Deterministic only = frequency leakage.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312991" y="3198465"/>
            <a:ext cx="2432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advantage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312991" y="3402211"/>
            <a:ext cx="24326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GA, production-ready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12991" y="3573661"/>
            <a:ext cx="24326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encryption (QE)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12991" y="3745111"/>
            <a:ext cx="24326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Range, prefix, suffix queries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1500" y="4781550"/>
            <a:ext cx="4243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differentiator: We're the only document database with production-ready searchable encryption.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ENABLEMENT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1251942"/>
            <a:ext cx="40571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to Uncover Encryption Need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1500" y="1520428"/>
            <a:ext cx="3977580" cy="777032"/>
          </a:xfrm>
          <a:prstGeom prst="roundRect">
            <a:avLst>
              <a:gd name="adj" fmla="val 98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850" y="1653778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Classification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850" y="1870918"/>
            <a:ext cx="378509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types of sensitive data do you store? PII, PHI, financial data, government classified?"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392710"/>
            <a:ext cx="3977580" cy="777032"/>
          </a:xfrm>
          <a:prstGeom prst="roundRect">
            <a:avLst>
              <a:gd name="adj" fmla="val 98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4850" y="2526060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Regulatory Landscape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4850" y="2743200"/>
            <a:ext cx="378509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compliance frameworks apply to your data? GDPR, HIPAA, PCI-DSS, SOX?"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71500" y="3264991"/>
            <a:ext cx="3977580" cy="777032"/>
          </a:xfrm>
          <a:prstGeom prst="roundRect">
            <a:avLst>
              <a:gd name="adj" fmla="val 98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850" y="3398341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Insider Threat Concern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850" y="3615482"/>
            <a:ext cx="378509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currently has access to your database? Are there concerns about privileged user access?"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4137273"/>
            <a:ext cx="3977580" cy="630436"/>
          </a:xfrm>
          <a:prstGeom prst="roundRect">
            <a:avLst>
              <a:gd name="adj" fmla="val 1208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850" y="4270623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Cloud Migration Blockers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850" y="4487763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preventing you from moving sensitive workloads to the cloud today?"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739580" y="1227237"/>
            <a:ext cx="40571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Qualification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739580" y="1495723"/>
            <a:ext cx="3977580" cy="777032"/>
          </a:xfrm>
          <a:prstGeom prst="roundRect">
            <a:avLst>
              <a:gd name="adj" fmla="val 98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2930" y="1629073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Query Requirements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72930" y="1846213"/>
            <a:ext cx="378509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you need to search or filter on encrypted fields? What types of queries - exact match, range, pattern?"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39580" y="2368004"/>
            <a:ext cx="3977580" cy="777032"/>
          </a:xfrm>
          <a:prstGeom prst="roundRect">
            <a:avLst>
              <a:gd name="adj" fmla="val 98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72930" y="2501354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Key Management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72930" y="2718495"/>
            <a:ext cx="378509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you have existing KMS infrastructure? AWS, Azure, GCP, or on-prem HSM?"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739580" y="3240286"/>
            <a:ext cx="3977580" cy="777032"/>
          </a:xfrm>
          <a:prstGeom prst="roundRect">
            <a:avLst>
              <a:gd name="adj" fmla="val 98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72930" y="3373636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Performance Tolerance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72930" y="3590776"/>
            <a:ext cx="378509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your latency budget for operations on sensitive data? Any SLA requirements?"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39580" y="4112568"/>
            <a:ext cx="3977580" cy="679996"/>
          </a:xfrm>
          <a:prstGeom prst="roundRect">
            <a:avLst>
              <a:gd name="adj" fmla="val 11206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53868" y="4112568"/>
            <a:ext cx="0" cy="679996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455" y="4226868"/>
            <a:ext cx="3794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82455" y="4411563"/>
            <a:ext cx="37948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for "zero trust", "data sovereignty", "separation of duties" - these are strong QE/CSFLE indicators.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HANDLING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914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Questions &amp; Responses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1500634"/>
            <a:ext cx="3977580" cy="942677"/>
          </a:xfrm>
          <a:prstGeom prst="roundRect">
            <a:avLst>
              <a:gd name="adj" fmla="val 808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4850" y="1633984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not just use encryption at rest?"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850" y="1870174"/>
            <a:ext cx="378509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at rest protects against disk theft but not against anyone with database access - DBAs, support engineers, compromised accounts, or backup system administrators. CSFLE/QE ensures only your application sees plaintext.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71500" y="2538561"/>
            <a:ext cx="3977580" cy="942677"/>
          </a:xfrm>
          <a:prstGeom prst="roundRect">
            <a:avLst>
              <a:gd name="adj" fmla="val 808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4850" y="2671911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seems complex to implement"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4850" y="2908102"/>
            <a:ext cx="378509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encryption requires minimal code changes - define a schema map and the driver handles the rest. We have quickstart guides and sample apps for every major language.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71500" y="3576489"/>
            <a:ext cx="3977580" cy="942677"/>
          </a:xfrm>
          <a:prstGeom prst="roundRect">
            <a:avLst>
              <a:gd name="adj" fmla="val 808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850" y="3709839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about performance impact?"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4850" y="3946029"/>
            <a:ext cx="378509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AES-NI CPUs handle encryption with minimal overhead. The bigger factor is KMS latency for DEK retrieval, which is cached. Most customers see 5-15% impact on encrypted field operations.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701480" y="1500634"/>
            <a:ext cx="3977580" cy="942677"/>
          </a:xfrm>
          <a:prstGeom prst="roundRect">
            <a:avLst>
              <a:gd name="adj" fmla="val 808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4830" y="1633984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we search encrypted data?"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34830" y="1870174"/>
            <a:ext cx="378509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Yes! Queryable Encryption (MongoDB 8.0+) supports equality, range, prefix, and suffix queries on encrypted fields. CSFLE supports equality queries on deterministically encrypted fields.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01480" y="2538561"/>
            <a:ext cx="3977580" cy="942677"/>
          </a:xfrm>
          <a:prstGeom prst="roundRect">
            <a:avLst>
              <a:gd name="adj" fmla="val 808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34830" y="2671911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already have TDE enabled"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34830" y="2908102"/>
            <a:ext cx="378509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TDE and CSFLE/QE complement each other. TDE protects all data at the storage layer. CSFLE/QE adds field-level protection that persists even when data is in memory or in transit within MongoDB.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01480" y="3576489"/>
            <a:ext cx="3977580" cy="942677"/>
          </a:xfrm>
          <a:prstGeom prst="roundRect">
            <a:avLst>
              <a:gd name="adj" fmla="val 808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34830" y="3709839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we migrate existing data?"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34830" y="3946029"/>
            <a:ext cx="378509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migration script that reads existing plaintext documents, encrypts designated fields client-side, and writes them back. We have documented migration patterns and can assist with planning.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OVER-ENGINEERING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NOT to Use CSFLE/QE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1287214"/>
            <a:ext cx="40571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encryption if: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1500" y="1574750"/>
            <a:ext cx="3977580" cy="630436"/>
          </a:xfrm>
          <a:prstGeom prst="roundRect">
            <a:avLst>
              <a:gd name="adj" fmla="val 1208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85788" y="1574750"/>
            <a:ext cx="0" cy="630436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3425" y="1708100"/>
            <a:ext cx="3755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regulatory or business requirement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3425" y="1925241"/>
            <a:ext cx="3755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add complexity if encryption isn't mandated and data isn't truly sensitive.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71500" y="2319486"/>
            <a:ext cx="3977580" cy="777032"/>
          </a:xfrm>
          <a:prstGeom prst="roundRect">
            <a:avLst>
              <a:gd name="adj" fmla="val 98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85788" y="2319486"/>
            <a:ext cx="0" cy="777032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425" y="2452836"/>
            <a:ext cx="3755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aggregation on sensitive fields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3425" y="2669977"/>
            <a:ext cx="375595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$sum, $avg, $group on encrypted fields? Consider alternative approaches or anonymization.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71500" y="3210818"/>
            <a:ext cx="3977580" cy="777032"/>
          </a:xfrm>
          <a:prstGeom prst="roundRect">
            <a:avLst>
              <a:gd name="adj" fmla="val 980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5788" y="3210818"/>
            <a:ext cx="0" cy="777032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425" y="3344168"/>
            <a:ext cx="3755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 on sensitive content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3425" y="3561308"/>
            <a:ext cx="375595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Search doesn't work on encrypted fields. Consider tokenization or redaction instead.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71500" y="4102150"/>
            <a:ext cx="3977580" cy="630436"/>
          </a:xfrm>
          <a:prstGeom prst="roundRect">
            <a:avLst>
              <a:gd name="adj" fmla="val 1208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85788" y="4102150"/>
            <a:ext cx="0" cy="630436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3425" y="4235500"/>
            <a:ext cx="37559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latency sensitivity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3425" y="4452640"/>
            <a:ext cx="37559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Sub-millisecond requirements may not tolerate encryption overhead.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39580" y="1433810"/>
            <a:ext cx="40571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alternatives: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39580" y="1721346"/>
            <a:ext cx="3977580" cy="630436"/>
          </a:xfrm>
          <a:prstGeom prst="roundRect">
            <a:avLst>
              <a:gd name="adj" fmla="val 1208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2930" y="1854696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TDE only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2930" y="2071836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disk-level protection is sufficient and you trust your database administrators.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739580" y="2466082"/>
            <a:ext cx="3977580" cy="630436"/>
          </a:xfrm>
          <a:prstGeom prst="roundRect">
            <a:avLst>
              <a:gd name="adj" fmla="val 1208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72930" y="2599432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masking / Redaction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72930" y="2816572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need to show partial data (last 4 of SSN) rather than full encryption.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739580" y="3210818"/>
            <a:ext cx="3977580" cy="630436"/>
          </a:xfrm>
          <a:prstGeom prst="roundRect">
            <a:avLst>
              <a:gd name="adj" fmla="val 1208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72930" y="3344168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2930" y="3561308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sensitive values with tokens stored in a separate vault system.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739580" y="3955554"/>
            <a:ext cx="3977580" cy="630436"/>
          </a:xfrm>
          <a:prstGeom prst="roundRect">
            <a:avLst>
              <a:gd name="adj" fmla="val 1208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72930" y="4088904"/>
            <a:ext cx="37850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Application-layer access control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72930" y="4306044"/>
            <a:ext cx="3785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threat model is application users, not infrastructure operators.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Overview</a:t>
            </a:r>
            <a:endParaRPr lang="en-US" sz="2100" dirty="0"/>
          </a:p>
        </p:txBody>
      </p:sp>
      <p:pic>
        <p:nvPicPr>
          <p:cNvPr id="5" name="Image 0" descr="/tmp/rasterized-gradient-a9c58c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94941"/>
            <a:ext cx="4557713" cy="6761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3900" y="1347341"/>
            <a:ext cx="43379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CSFLE with AWS KMS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23900" y="1572071"/>
            <a:ext cx="43379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71500" y="1985367"/>
            <a:ext cx="4557713" cy="967383"/>
          </a:xfrm>
          <a:prstGeom prst="roundRect">
            <a:avLst>
              <a:gd name="adj" fmla="val 787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04850" y="2118717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AWS KMS and create CMK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704850" y="2303413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key vault collection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704850" y="2488109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automatic encryption with schema map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704850" y="2672804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encrypted fields and verify encryption</a:t>
            </a:r>
            <a:endParaRPr lang="en-US" sz="825" dirty="0"/>
          </a:p>
        </p:txBody>
      </p:sp>
      <p:pic>
        <p:nvPicPr>
          <p:cNvPr id="13" name="Image 1" descr="/tmp/rasterized-gradient-1faddeb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067050"/>
            <a:ext cx="4557713" cy="6761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3900" y="3219450"/>
            <a:ext cx="43379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Queryable Encryption with Azure Key Vault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23900" y="3444180"/>
            <a:ext cx="43379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571500" y="3857476"/>
            <a:ext cx="4557713" cy="967383"/>
          </a:xfrm>
          <a:prstGeom prst="roundRect">
            <a:avLst>
              <a:gd name="adj" fmla="val 7877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04850" y="3990826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Azure Key Vault with managed identity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704850" y="4175522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encrypted collection with QE schema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704850" y="4360218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range queries on encrypted salary field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704850" y="4544913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CSFLE vs QE behavior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5357813" y="1643509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5357813" y="1931045"/>
            <a:ext cx="3314700" cy="1113979"/>
          </a:xfrm>
          <a:prstGeom prst="roundRect">
            <a:avLst>
              <a:gd name="adj" fmla="val 684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472113" y="2045345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✓MongoDB Atlas cluster (M10+)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5472113" y="2230041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✓AWS account with KMS access</a:t>
            </a:r>
            <a:endParaRPr lang="en-US" sz="825" dirty="0"/>
          </a:p>
        </p:txBody>
      </p:sp>
      <p:sp>
        <p:nvSpPr>
          <p:cNvPr id="25" name="Text 21"/>
          <p:cNvSpPr/>
          <p:nvPr/>
        </p:nvSpPr>
        <p:spPr>
          <a:xfrm>
            <a:off x="5472113" y="2414736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✓Azure subscription with Key Vault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5472113" y="2599432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✓Node.js 18+ or Python 3.9+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5472113" y="2784128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✓mongosh 2.0+</a:t>
            </a:r>
            <a:endParaRPr lang="en-US" sz="825" dirty="0"/>
          </a:p>
        </p:txBody>
      </p:sp>
      <p:sp>
        <p:nvSpPr>
          <p:cNvPr id="28" name="Text 24"/>
          <p:cNvSpPr/>
          <p:nvPr/>
        </p:nvSpPr>
        <p:spPr>
          <a:xfrm>
            <a:off x="5357813" y="3159323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975" dirty="0"/>
          </a:p>
        </p:txBody>
      </p:sp>
      <p:sp>
        <p:nvSpPr>
          <p:cNvPr id="29" name="Text 25"/>
          <p:cNvSpPr/>
          <p:nvPr/>
        </p:nvSpPr>
        <p:spPr>
          <a:xfrm>
            <a:off x="5357813" y="3446859"/>
            <a:ext cx="3314700" cy="929283"/>
          </a:xfrm>
          <a:prstGeom prst="roundRect">
            <a:avLst>
              <a:gd name="adj" fmla="val 8200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472113" y="3561159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KMS configuration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5472113" y="3745855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map design patterns</a:t>
            </a:r>
            <a:endParaRPr lang="en-US" sz="825" dirty="0"/>
          </a:p>
        </p:txBody>
      </p:sp>
      <p:sp>
        <p:nvSpPr>
          <p:cNvPr id="32" name="Text 28"/>
          <p:cNvSpPr/>
          <p:nvPr/>
        </p:nvSpPr>
        <p:spPr>
          <a:xfrm>
            <a:off x="5472113" y="3930551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common issues</a:t>
            </a:r>
            <a:endParaRPr lang="en-US" sz="825" dirty="0"/>
          </a:p>
        </p:txBody>
      </p:sp>
      <p:sp>
        <p:nvSpPr>
          <p:cNvPr id="33" name="Text 29"/>
          <p:cNvSpPr/>
          <p:nvPr/>
        </p:nvSpPr>
        <p:spPr>
          <a:xfrm>
            <a:off x="5472113" y="4115246"/>
            <a:ext cx="31478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demo techniques</a:t>
            </a:r>
            <a:endParaRPr lang="en-US" sz="8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ED6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874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85750" y="5334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Next Steps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1471910"/>
            <a:ext cx="46488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&amp; Guides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71500" y="1759446"/>
            <a:ext cx="4557713" cy="611386"/>
          </a:xfrm>
          <a:prstGeom prst="roundRect">
            <a:avLst>
              <a:gd name="adj" fmla="val 1246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850" y="1892796"/>
            <a:ext cx="43768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CSFLE Documentation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850" y="2090886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mongodb.com/docs/manual/core/csfle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485132"/>
            <a:ext cx="4557713" cy="611386"/>
          </a:xfrm>
          <a:prstGeom prst="roundRect">
            <a:avLst>
              <a:gd name="adj" fmla="val 1246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4850" y="2618482"/>
            <a:ext cx="43768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 Encryption Documentation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4850" y="2816572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mongodb.com/docs/manual/core/queryable-encryption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71500" y="3210818"/>
            <a:ext cx="4557713" cy="611386"/>
          </a:xfrm>
          <a:prstGeom prst="roundRect">
            <a:avLst>
              <a:gd name="adj" fmla="val 1246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850" y="3344168"/>
            <a:ext cx="43768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Sample Applications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850" y="3542258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github.com/mongodb-university/csfle-guides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3936504"/>
            <a:ext cx="4557713" cy="611386"/>
          </a:xfrm>
          <a:prstGeom prst="roundRect">
            <a:avLst>
              <a:gd name="adj" fmla="val 12463"/>
            </a:avLst>
          </a:prstGeom>
          <a:solidFill>
            <a:srgbClr val="1C2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850" y="4069854"/>
            <a:ext cx="43768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Internal: SA Encryption Playbook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850" y="4267944"/>
            <a:ext cx="4376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 → SA Resources → Security → Encryption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357813" y="1379488"/>
            <a:ext cx="33809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Action Items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57813" y="1667024"/>
            <a:ext cx="3314700" cy="630436"/>
          </a:xfrm>
          <a:prstGeom prst="roundRect">
            <a:avLst>
              <a:gd name="adj" fmla="val 1208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372100" y="1667024"/>
            <a:ext cx="0" cy="630436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9738" y="1800374"/>
            <a:ext cx="307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Complete both labs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19738" y="2017514"/>
            <a:ext cx="307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experience is essential for customer demos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357813" y="2411760"/>
            <a:ext cx="3314700" cy="630436"/>
          </a:xfrm>
          <a:prstGeom prst="roundRect">
            <a:avLst>
              <a:gd name="adj" fmla="val 1208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372100" y="2411760"/>
            <a:ext cx="0" cy="630436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9738" y="2545110"/>
            <a:ext cx="307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Review your territory accounts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19738" y="2762250"/>
            <a:ext cx="307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2-3 customers who might benefit from encryption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357813" y="3156496"/>
            <a:ext cx="3314700" cy="630436"/>
          </a:xfrm>
          <a:prstGeom prst="roundRect">
            <a:avLst>
              <a:gd name="adj" fmla="val 1208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372100" y="3156496"/>
            <a:ext cx="0" cy="630436"/>
          </a:xfrm>
          <a:prstGeom prst="line">
            <a:avLst/>
          </a:prstGeom>
          <a:noFill/>
          <a:ln w="28575">
            <a:solidFill>
              <a:srgbClr val="00ED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9738" y="3289846"/>
            <a:ext cx="30798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E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Schedule practice demo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19738" y="3506986"/>
            <a:ext cx="307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through the demo flow with your SE manager</a:t>
            </a:r>
            <a:endParaRPr lang="en-US" sz="825" dirty="0"/>
          </a:p>
        </p:txBody>
      </p:sp>
      <p:pic>
        <p:nvPicPr>
          <p:cNvPr id="31" name="Image 0" descr="/tmp/rasterized-gradient-17f2a3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7813" y="3977432"/>
            <a:ext cx="3314700" cy="66273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510213" y="4129832"/>
            <a:ext cx="30700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5510213" y="4341168"/>
            <a:ext cx="30700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#sa-encryption-help on Slack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CSFLE &amp; Queryable Encryption - SA Enablement</dc:title>
  <dc:subject>Client-Side Field Level Encryption and Queryable Encryption</dc:subject>
  <dc:creator>MongoDB Solutions Architecture</dc:creator>
  <cp:lastModifiedBy>MongoDB Solutions Architecture</cp:lastModifiedBy>
  <cp:revision>1</cp:revision>
  <dcterms:created xsi:type="dcterms:W3CDTF">2026-01-23T10:42:10Z</dcterms:created>
  <dcterms:modified xsi:type="dcterms:W3CDTF">2026-01-23T10:42:10Z</dcterms:modified>
</cp:coreProperties>
</file>